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71" r:id="rId14"/>
    <p:sldId id="270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27" autoAdjust="0"/>
  </p:normalViewPr>
  <p:slideViewPr>
    <p:cSldViewPr>
      <p:cViewPr>
        <p:scale>
          <a:sx n="50" d="100"/>
          <a:sy n="50" d="100"/>
        </p:scale>
        <p:origin x="1956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7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6C881D-4B13-42E2-8DDC-7A063B80E3D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2C72725-1CA4-4B76-80C2-9BA926A8A054}">
      <dgm:prSet phldrT="[Texte]" custT="1"/>
      <dgm:spPr/>
      <dgm:t>
        <a:bodyPr/>
        <a:lstStyle/>
        <a:p>
          <a:r>
            <a:rPr lang="fr-FR" sz="2400" b="1" dirty="0"/>
            <a:t>Analyse du chiffre d’affaires</a:t>
          </a:r>
          <a:endParaRPr lang="fr-FR" sz="2400" dirty="0"/>
        </a:p>
      </dgm:t>
    </dgm:pt>
    <dgm:pt modelId="{6502CAB8-BFEF-4A63-B320-ECC32C4AE81A}" type="parTrans" cxnId="{6B6D6918-293F-4612-98EC-56F39DAEEC59}">
      <dgm:prSet/>
      <dgm:spPr/>
      <dgm:t>
        <a:bodyPr/>
        <a:lstStyle/>
        <a:p>
          <a:endParaRPr lang="fr-FR"/>
        </a:p>
      </dgm:t>
    </dgm:pt>
    <dgm:pt modelId="{B40BF2E9-5DCB-48FD-B504-C481428B144E}" type="sibTrans" cxnId="{6B6D6918-293F-4612-98EC-56F39DAEEC59}">
      <dgm:prSet/>
      <dgm:spPr/>
      <dgm:t>
        <a:bodyPr/>
        <a:lstStyle/>
        <a:p>
          <a:endParaRPr lang="fr-FR"/>
        </a:p>
      </dgm:t>
    </dgm:pt>
    <dgm:pt modelId="{A8EC772F-5853-4747-A2D3-A73B2693A4A0}">
      <dgm:prSet phldrT="[Texte]" custT="1"/>
      <dgm:spPr/>
      <dgm:t>
        <a:bodyPr/>
        <a:lstStyle/>
        <a:p>
          <a:pPr>
            <a:lnSpc>
              <a:spcPct val="90000"/>
            </a:lnSpc>
          </a:pPr>
          <a:r>
            <a:rPr lang="fr-FR" sz="1800" dirty="0"/>
            <a:t>Le </a:t>
          </a:r>
          <a:r>
            <a:rPr lang="fr-FR" sz="1800" b="1" dirty="0"/>
            <a:t>chiffre d’affaires </a:t>
          </a:r>
          <a:r>
            <a:rPr lang="fr-FR" sz="1800" dirty="0"/>
            <a:t>a augmenté de </a:t>
          </a:r>
          <a:r>
            <a:rPr lang="fr-FR" sz="1800" b="1" dirty="0"/>
            <a:t>+0,008337 % en 2024</a:t>
          </a:r>
          <a:r>
            <a:rPr lang="fr-FR" sz="1800" dirty="0"/>
            <a:t> par rapport à 2023.</a:t>
          </a:r>
        </a:p>
      </dgm:t>
    </dgm:pt>
    <dgm:pt modelId="{2EE07876-E387-44C0-8A33-A5822E6A70DF}" type="parTrans" cxnId="{508AF6E2-5DB7-4122-9B33-E01FFD499FC4}">
      <dgm:prSet/>
      <dgm:spPr/>
      <dgm:t>
        <a:bodyPr/>
        <a:lstStyle/>
        <a:p>
          <a:endParaRPr lang="fr-FR"/>
        </a:p>
      </dgm:t>
    </dgm:pt>
    <dgm:pt modelId="{145FBEF7-31F4-4F7E-BB46-81CE45219845}" type="sibTrans" cxnId="{508AF6E2-5DB7-4122-9B33-E01FFD499FC4}">
      <dgm:prSet/>
      <dgm:spPr/>
      <dgm:t>
        <a:bodyPr/>
        <a:lstStyle/>
        <a:p>
          <a:endParaRPr lang="fr-FR"/>
        </a:p>
      </dgm:t>
    </dgm:pt>
    <dgm:pt modelId="{E98D0842-39C6-4C00-B456-525EE6C518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800" dirty="0"/>
            <a:t>Une </a:t>
          </a:r>
          <a:r>
            <a:rPr lang="fr-FR" sz="1800" b="1" dirty="0"/>
            <a:t>chute marquée</a:t>
          </a:r>
          <a:r>
            <a:rPr lang="fr-FR" sz="1800" dirty="0"/>
            <a:t> a été observée en </a:t>
          </a:r>
          <a:r>
            <a:rPr lang="fr-FR" sz="1800" b="1" dirty="0"/>
            <a:t>novembre 2023</a:t>
          </a:r>
          <a:r>
            <a:rPr lang="fr-FR" sz="1800" dirty="0"/>
            <a:t>, suivie d’une </a:t>
          </a:r>
          <a:r>
            <a:rPr lang="fr-FR" sz="1800" b="1" dirty="0"/>
            <a:t>reprise rapide en décembre 2023</a:t>
          </a:r>
          <a:r>
            <a:rPr lang="fr-FR" sz="1800" dirty="0"/>
            <a:t>.</a:t>
          </a:r>
        </a:p>
      </dgm:t>
    </dgm:pt>
    <dgm:pt modelId="{C0DCC319-0813-4647-9492-7C203A1DE2BE}" type="parTrans" cxnId="{8D0BF2F3-3C02-4605-A47C-E7566AD68F83}">
      <dgm:prSet/>
      <dgm:spPr/>
      <dgm:t>
        <a:bodyPr/>
        <a:lstStyle/>
        <a:p>
          <a:endParaRPr lang="fr-FR"/>
        </a:p>
      </dgm:t>
    </dgm:pt>
    <dgm:pt modelId="{794023D4-55B9-4D15-AB16-05C8B9FBA023}" type="sibTrans" cxnId="{8D0BF2F3-3C02-4605-A47C-E7566AD68F83}">
      <dgm:prSet/>
      <dgm:spPr/>
      <dgm:t>
        <a:bodyPr/>
        <a:lstStyle/>
        <a:p>
          <a:endParaRPr lang="fr-FR"/>
        </a:p>
      </dgm:t>
    </dgm:pt>
    <dgm:pt modelId="{96CED5DF-70ED-4FCF-92DA-14C13C18C5B5}">
      <dgm:prSet custT="1"/>
      <dgm:spPr/>
      <dgm:t>
        <a:bodyPr/>
        <a:lstStyle/>
        <a:p>
          <a:pPr>
            <a:lnSpc>
              <a:spcPct val="90000"/>
            </a:lnSpc>
          </a:pPr>
          <a:r>
            <a:rPr lang="fr-FR" sz="1800" dirty="0"/>
            <a:t>Le </a:t>
          </a:r>
          <a:r>
            <a:rPr lang="fr-FR" sz="1800" b="1" dirty="0"/>
            <a:t>meilleur chiffre d’affaires</a:t>
          </a:r>
          <a:r>
            <a:rPr lang="fr-FR" sz="1800" dirty="0"/>
            <a:t> a été enregistré en </a:t>
          </a:r>
          <a:r>
            <a:rPr lang="fr-FR" sz="1800" b="1" dirty="0"/>
            <a:t>mai 2024</a:t>
          </a:r>
          <a:r>
            <a:rPr lang="fr-FR" sz="1800" dirty="0"/>
            <a:t>.</a:t>
          </a:r>
        </a:p>
      </dgm:t>
    </dgm:pt>
    <dgm:pt modelId="{AD71697B-18B7-4100-A4E0-D8A391F2C99C}" type="parTrans" cxnId="{B826582B-9B1D-4DE3-8063-2AAD1184524E}">
      <dgm:prSet/>
      <dgm:spPr/>
      <dgm:t>
        <a:bodyPr/>
        <a:lstStyle/>
        <a:p>
          <a:endParaRPr lang="fr-FR"/>
        </a:p>
      </dgm:t>
    </dgm:pt>
    <dgm:pt modelId="{829B7FF8-686B-42D6-B726-404BABD86ED8}" type="sibTrans" cxnId="{B826582B-9B1D-4DE3-8063-2AAD1184524E}">
      <dgm:prSet/>
      <dgm:spPr/>
      <dgm:t>
        <a:bodyPr/>
        <a:lstStyle/>
        <a:p>
          <a:endParaRPr lang="fr-FR"/>
        </a:p>
      </dgm:t>
    </dgm:pt>
    <dgm:pt modelId="{1F4DB497-B188-4D31-BB13-EEACD2A0718F}">
      <dgm:prSet phldrT="[Texte]" custT="1"/>
      <dgm:spPr/>
      <dgm:t>
        <a:bodyPr/>
        <a:lstStyle/>
        <a:p>
          <a:pPr>
            <a:lnSpc>
              <a:spcPct val="90000"/>
            </a:lnSpc>
          </a:pPr>
          <a:endParaRPr lang="fr-FR" sz="2000" dirty="0"/>
        </a:p>
      </dgm:t>
    </dgm:pt>
    <dgm:pt modelId="{5EE57DF8-874A-4F97-816A-3F8D8CFF6A77}" type="parTrans" cxnId="{5504A16C-E863-432B-ADDC-5E3D26E14EE9}">
      <dgm:prSet/>
      <dgm:spPr/>
      <dgm:t>
        <a:bodyPr/>
        <a:lstStyle/>
        <a:p>
          <a:endParaRPr lang="fr-FR"/>
        </a:p>
      </dgm:t>
    </dgm:pt>
    <dgm:pt modelId="{A680E1B2-D00D-4322-BC3B-C8C4B22D3DF8}" type="sibTrans" cxnId="{5504A16C-E863-432B-ADDC-5E3D26E14EE9}">
      <dgm:prSet/>
      <dgm:spPr/>
      <dgm:t>
        <a:bodyPr/>
        <a:lstStyle/>
        <a:p>
          <a:endParaRPr lang="fr-FR"/>
        </a:p>
      </dgm:t>
    </dgm:pt>
    <dgm:pt modelId="{05E8D4E0-0D1B-4AA9-AEDB-6BA17BE178D5}" type="pres">
      <dgm:prSet presAssocID="{8B6C881D-4B13-42E2-8DDC-7A063B80E3D3}" presName="linear" presStyleCnt="0">
        <dgm:presLayoutVars>
          <dgm:animLvl val="lvl"/>
          <dgm:resizeHandles val="exact"/>
        </dgm:presLayoutVars>
      </dgm:prSet>
      <dgm:spPr/>
    </dgm:pt>
    <dgm:pt modelId="{9495BFD8-F5A1-4357-AA54-14C00C7559AF}" type="pres">
      <dgm:prSet presAssocID="{D2C72725-1CA4-4B76-80C2-9BA926A8A054}" presName="parentText" presStyleLbl="node1" presStyleIdx="0" presStyleCnt="1" custScaleY="115845" custLinFactNeighborX="2479" custLinFactNeighborY="32245">
        <dgm:presLayoutVars>
          <dgm:chMax val="0"/>
          <dgm:bulletEnabled val="1"/>
        </dgm:presLayoutVars>
      </dgm:prSet>
      <dgm:spPr/>
    </dgm:pt>
    <dgm:pt modelId="{1C7AC967-03FF-47A7-AEFA-EAB34AE31BDA}" type="pres">
      <dgm:prSet presAssocID="{D2C72725-1CA4-4B76-80C2-9BA926A8A054}" presName="childText" presStyleLbl="revTx" presStyleIdx="0" presStyleCnt="1" custScaleY="352794">
        <dgm:presLayoutVars>
          <dgm:bulletEnabled val="1"/>
        </dgm:presLayoutVars>
      </dgm:prSet>
      <dgm:spPr/>
    </dgm:pt>
  </dgm:ptLst>
  <dgm:cxnLst>
    <dgm:cxn modelId="{8E508E04-FC27-4716-8489-9A33BFEF527F}" type="presOf" srcId="{E98D0842-39C6-4C00-B456-525EE6C51872}" destId="{1C7AC967-03FF-47A7-AEFA-EAB34AE31BDA}" srcOrd="0" destOrd="2" presId="urn:microsoft.com/office/officeart/2005/8/layout/vList2"/>
    <dgm:cxn modelId="{6B6D6918-293F-4612-98EC-56F39DAEEC59}" srcId="{8B6C881D-4B13-42E2-8DDC-7A063B80E3D3}" destId="{D2C72725-1CA4-4B76-80C2-9BA926A8A054}" srcOrd="0" destOrd="0" parTransId="{6502CAB8-BFEF-4A63-B320-ECC32C4AE81A}" sibTransId="{B40BF2E9-5DCB-48FD-B504-C481428B144E}"/>
    <dgm:cxn modelId="{B826582B-9B1D-4DE3-8063-2AAD1184524E}" srcId="{D2C72725-1CA4-4B76-80C2-9BA926A8A054}" destId="{96CED5DF-70ED-4FCF-92DA-14C13C18C5B5}" srcOrd="3" destOrd="0" parTransId="{AD71697B-18B7-4100-A4E0-D8A391F2C99C}" sibTransId="{829B7FF8-686B-42D6-B726-404BABD86ED8}"/>
    <dgm:cxn modelId="{5504A16C-E863-432B-ADDC-5E3D26E14EE9}" srcId="{D2C72725-1CA4-4B76-80C2-9BA926A8A054}" destId="{1F4DB497-B188-4D31-BB13-EEACD2A0718F}" srcOrd="0" destOrd="0" parTransId="{5EE57DF8-874A-4F97-816A-3F8D8CFF6A77}" sibTransId="{A680E1B2-D00D-4322-BC3B-C8C4B22D3DF8}"/>
    <dgm:cxn modelId="{97539C71-5BCC-47DC-9370-7A11D61D44D1}" type="presOf" srcId="{96CED5DF-70ED-4FCF-92DA-14C13C18C5B5}" destId="{1C7AC967-03FF-47A7-AEFA-EAB34AE31BDA}" srcOrd="0" destOrd="3" presId="urn:microsoft.com/office/officeart/2005/8/layout/vList2"/>
    <dgm:cxn modelId="{E92B0084-314F-49EA-BAE7-E9E4F230115F}" type="presOf" srcId="{A8EC772F-5853-4747-A2D3-A73B2693A4A0}" destId="{1C7AC967-03FF-47A7-AEFA-EAB34AE31BDA}" srcOrd="0" destOrd="1" presId="urn:microsoft.com/office/officeart/2005/8/layout/vList2"/>
    <dgm:cxn modelId="{F8A57C9A-8953-4AF3-97C1-EDA54613E15A}" type="presOf" srcId="{8B6C881D-4B13-42E2-8DDC-7A063B80E3D3}" destId="{05E8D4E0-0D1B-4AA9-AEDB-6BA17BE178D5}" srcOrd="0" destOrd="0" presId="urn:microsoft.com/office/officeart/2005/8/layout/vList2"/>
    <dgm:cxn modelId="{5A249BB3-F473-4C9E-AA7C-686B340BA7D5}" type="presOf" srcId="{D2C72725-1CA4-4B76-80C2-9BA926A8A054}" destId="{9495BFD8-F5A1-4357-AA54-14C00C7559AF}" srcOrd="0" destOrd="0" presId="urn:microsoft.com/office/officeart/2005/8/layout/vList2"/>
    <dgm:cxn modelId="{A5F6D3BE-A3C4-47B0-BCC5-797454EAE417}" type="presOf" srcId="{1F4DB497-B188-4D31-BB13-EEACD2A0718F}" destId="{1C7AC967-03FF-47A7-AEFA-EAB34AE31BDA}" srcOrd="0" destOrd="0" presId="urn:microsoft.com/office/officeart/2005/8/layout/vList2"/>
    <dgm:cxn modelId="{508AF6E2-5DB7-4122-9B33-E01FFD499FC4}" srcId="{D2C72725-1CA4-4B76-80C2-9BA926A8A054}" destId="{A8EC772F-5853-4747-A2D3-A73B2693A4A0}" srcOrd="1" destOrd="0" parTransId="{2EE07876-E387-44C0-8A33-A5822E6A70DF}" sibTransId="{145FBEF7-31F4-4F7E-BB46-81CE45219845}"/>
    <dgm:cxn modelId="{8D0BF2F3-3C02-4605-A47C-E7566AD68F83}" srcId="{D2C72725-1CA4-4B76-80C2-9BA926A8A054}" destId="{E98D0842-39C6-4C00-B456-525EE6C51872}" srcOrd="2" destOrd="0" parTransId="{C0DCC319-0813-4647-9492-7C203A1DE2BE}" sibTransId="{794023D4-55B9-4D15-AB16-05C8B9FBA023}"/>
    <dgm:cxn modelId="{174A8224-E3F4-45D9-88DF-3F7187D48BB8}" type="presParOf" srcId="{05E8D4E0-0D1B-4AA9-AEDB-6BA17BE178D5}" destId="{9495BFD8-F5A1-4357-AA54-14C00C7559AF}" srcOrd="0" destOrd="0" presId="urn:microsoft.com/office/officeart/2005/8/layout/vList2"/>
    <dgm:cxn modelId="{4115E490-0EB2-4D1F-864D-54F50C7A79F1}" type="presParOf" srcId="{05E8D4E0-0D1B-4AA9-AEDB-6BA17BE178D5}" destId="{1C7AC967-03FF-47A7-AEFA-EAB34AE31BD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6C881D-4B13-42E2-8DDC-7A063B80E3D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2C72725-1CA4-4B76-80C2-9BA926A8A054}">
      <dgm:prSet phldrT="[Texte]"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b="1" dirty="0"/>
            <a:t>Analyse des commandes</a:t>
          </a:r>
          <a:endParaRPr lang="fr-FR" sz="2000" dirty="0"/>
        </a:p>
      </dgm:t>
    </dgm:pt>
    <dgm:pt modelId="{6502CAB8-BFEF-4A63-B320-ECC32C4AE81A}" type="parTrans" cxnId="{6B6D6918-293F-4612-98EC-56F39DAEEC59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B40BF2E9-5DCB-48FD-B504-C481428B144E}" type="sibTrans" cxnId="{6B6D6918-293F-4612-98EC-56F39DAEEC59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A8EC772F-5853-4747-A2D3-A73B2693A4A0}">
      <dgm:prSet phldrT="[Texte]"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dirty="0"/>
            <a:t>Forte activité sur les régions </a:t>
          </a:r>
          <a:r>
            <a:rPr lang="fr-FR" sz="2000" b="1" dirty="0" err="1"/>
            <a:t>North</a:t>
          </a:r>
          <a:r>
            <a:rPr lang="fr-FR" sz="2000" b="1" dirty="0"/>
            <a:t> </a:t>
          </a:r>
          <a:r>
            <a:rPr lang="fr-FR" sz="2000" b="1" dirty="0" err="1"/>
            <a:t>America</a:t>
          </a:r>
          <a:r>
            <a:rPr lang="fr-FR" sz="2000" b="1" dirty="0"/>
            <a:t>, </a:t>
          </a:r>
          <a:r>
            <a:rPr lang="fr-FR" sz="2000" b="1" dirty="0" err="1"/>
            <a:t>Asia</a:t>
          </a:r>
          <a:r>
            <a:rPr lang="fr-FR" sz="2000" b="1" dirty="0"/>
            <a:t> et </a:t>
          </a:r>
          <a:r>
            <a:rPr lang="fr-FR" sz="2000" b="1" dirty="0" err="1"/>
            <a:t>Africa</a:t>
          </a:r>
          <a:r>
            <a:rPr lang="fr-FR" sz="2000" dirty="0"/>
            <a:t>.</a:t>
          </a:r>
        </a:p>
      </dgm:t>
    </dgm:pt>
    <dgm:pt modelId="{2EE07876-E387-44C0-8A33-A5822E6A70DF}" type="parTrans" cxnId="{508AF6E2-5DB7-4122-9B33-E01FFD499FC4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145FBEF7-31F4-4F7E-BB46-81CE45219845}" type="sibTrans" cxnId="{508AF6E2-5DB7-4122-9B33-E01FFD499FC4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29F95AB1-DF54-4706-A094-B585FE24C462}">
      <dgm:prSet phldrT="[Texte]"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dirty="0"/>
            <a:t>Les produits </a:t>
          </a:r>
          <a:r>
            <a:rPr lang="fr-FR" sz="2000" b="1" dirty="0" err="1"/>
            <a:t>Clothing</a:t>
          </a:r>
          <a:r>
            <a:rPr lang="fr-FR" sz="2000" b="1" dirty="0"/>
            <a:t> </a:t>
          </a:r>
          <a:r>
            <a:rPr lang="fr-FR" sz="2000" dirty="0"/>
            <a:t>et </a:t>
          </a:r>
          <a:r>
            <a:rPr lang="fr-FR" sz="2000" b="1" dirty="0"/>
            <a:t>Cosmétique</a:t>
          </a:r>
          <a:r>
            <a:rPr lang="fr-FR" sz="2000" dirty="0"/>
            <a:t> génèrent le plus de revenu</a:t>
          </a:r>
        </a:p>
      </dgm:t>
    </dgm:pt>
    <dgm:pt modelId="{23CFCDBB-AFD6-427F-A3C9-7AA84DF6D273}" type="parTrans" cxnId="{4C10872A-AA2D-4239-8FA9-B34E4268AB37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DE79BF49-9347-44E7-B1A6-03AC642CE602}" type="sibTrans" cxnId="{4C10872A-AA2D-4239-8FA9-B34E4268AB37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E9A48803-F0CB-4BF3-8865-8701B5962D0A}">
      <dgm:prSet phldrT="[Texte]" custT="1"/>
      <dgm:spPr/>
      <dgm:t>
        <a:bodyPr/>
        <a:lstStyle/>
        <a:p>
          <a:pPr>
            <a:lnSpc>
              <a:spcPct val="100000"/>
            </a:lnSpc>
          </a:pPr>
          <a:endParaRPr lang="fr-FR" sz="2000" dirty="0"/>
        </a:p>
      </dgm:t>
    </dgm:pt>
    <dgm:pt modelId="{6B81033E-1A14-4EC2-AB59-9307CA149A7F}" type="parTrans" cxnId="{07F50018-7EAD-4568-A14A-7085ED1C37FD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5AA3ED3D-AC62-4AA5-A351-8579FFA98880}" type="sibTrans" cxnId="{07F50018-7EAD-4568-A14A-7085ED1C37FD}">
      <dgm:prSet/>
      <dgm:spPr/>
      <dgm:t>
        <a:bodyPr/>
        <a:lstStyle/>
        <a:p>
          <a:pPr>
            <a:lnSpc>
              <a:spcPct val="100000"/>
            </a:lnSpc>
          </a:pPr>
          <a:endParaRPr lang="fr-FR"/>
        </a:p>
      </dgm:t>
    </dgm:pt>
    <dgm:pt modelId="{05E8D4E0-0D1B-4AA9-AEDB-6BA17BE178D5}" type="pres">
      <dgm:prSet presAssocID="{8B6C881D-4B13-42E2-8DDC-7A063B80E3D3}" presName="linear" presStyleCnt="0">
        <dgm:presLayoutVars>
          <dgm:animLvl val="lvl"/>
          <dgm:resizeHandles val="exact"/>
        </dgm:presLayoutVars>
      </dgm:prSet>
      <dgm:spPr/>
    </dgm:pt>
    <dgm:pt modelId="{9495BFD8-F5A1-4357-AA54-14C00C7559AF}" type="pres">
      <dgm:prSet presAssocID="{D2C72725-1CA4-4B76-80C2-9BA926A8A054}" presName="parentText" presStyleLbl="node1" presStyleIdx="0" presStyleCnt="1" custScaleX="95455" custScaleY="39568" custLinFactY="-100000" custLinFactNeighborX="-5965" custLinFactNeighborY="-169324">
        <dgm:presLayoutVars>
          <dgm:chMax val="0"/>
          <dgm:bulletEnabled val="1"/>
        </dgm:presLayoutVars>
      </dgm:prSet>
      <dgm:spPr/>
    </dgm:pt>
    <dgm:pt modelId="{1C7AC967-03FF-47A7-AEFA-EAB34AE31BDA}" type="pres">
      <dgm:prSet presAssocID="{D2C72725-1CA4-4B76-80C2-9BA926A8A054}" presName="childText" presStyleLbl="revTx" presStyleIdx="0" presStyleCnt="1" custScaleY="125984" custLinFactNeighborY="-14242">
        <dgm:presLayoutVars>
          <dgm:bulletEnabled val="1"/>
        </dgm:presLayoutVars>
      </dgm:prSet>
      <dgm:spPr/>
    </dgm:pt>
  </dgm:ptLst>
  <dgm:cxnLst>
    <dgm:cxn modelId="{07F50018-7EAD-4568-A14A-7085ED1C37FD}" srcId="{D2C72725-1CA4-4B76-80C2-9BA926A8A054}" destId="{E9A48803-F0CB-4BF3-8865-8701B5962D0A}" srcOrd="0" destOrd="0" parTransId="{6B81033E-1A14-4EC2-AB59-9307CA149A7F}" sibTransId="{5AA3ED3D-AC62-4AA5-A351-8579FFA98880}"/>
    <dgm:cxn modelId="{6B6D6918-293F-4612-98EC-56F39DAEEC59}" srcId="{8B6C881D-4B13-42E2-8DDC-7A063B80E3D3}" destId="{D2C72725-1CA4-4B76-80C2-9BA926A8A054}" srcOrd="0" destOrd="0" parTransId="{6502CAB8-BFEF-4A63-B320-ECC32C4AE81A}" sibTransId="{B40BF2E9-5DCB-48FD-B504-C481428B144E}"/>
    <dgm:cxn modelId="{4C10872A-AA2D-4239-8FA9-B34E4268AB37}" srcId="{D2C72725-1CA4-4B76-80C2-9BA926A8A054}" destId="{29F95AB1-DF54-4706-A094-B585FE24C462}" srcOrd="1" destOrd="0" parTransId="{23CFCDBB-AFD6-427F-A3C9-7AA84DF6D273}" sibTransId="{DE79BF49-9347-44E7-B1A6-03AC642CE602}"/>
    <dgm:cxn modelId="{E7456167-4A7B-4E4A-8C39-D79348F2C917}" type="presOf" srcId="{E9A48803-F0CB-4BF3-8865-8701B5962D0A}" destId="{1C7AC967-03FF-47A7-AEFA-EAB34AE31BDA}" srcOrd="0" destOrd="0" presId="urn:microsoft.com/office/officeart/2005/8/layout/vList2"/>
    <dgm:cxn modelId="{59377B58-4896-49E1-8AE5-C1BB47FAC668}" type="presOf" srcId="{D2C72725-1CA4-4B76-80C2-9BA926A8A054}" destId="{9495BFD8-F5A1-4357-AA54-14C00C7559AF}" srcOrd="0" destOrd="0" presId="urn:microsoft.com/office/officeart/2005/8/layout/vList2"/>
    <dgm:cxn modelId="{4180607E-A9A6-436E-8D0B-1883F084AC50}" type="presOf" srcId="{8B6C881D-4B13-42E2-8DDC-7A063B80E3D3}" destId="{05E8D4E0-0D1B-4AA9-AEDB-6BA17BE178D5}" srcOrd="0" destOrd="0" presId="urn:microsoft.com/office/officeart/2005/8/layout/vList2"/>
    <dgm:cxn modelId="{F26715AC-50A5-43CC-81EF-E685E84F468B}" type="presOf" srcId="{A8EC772F-5853-4747-A2D3-A73B2693A4A0}" destId="{1C7AC967-03FF-47A7-AEFA-EAB34AE31BDA}" srcOrd="0" destOrd="2" presId="urn:microsoft.com/office/officeart/2005/8/layout/vList2"/>
    <dgm:cxn modelId="{508AF6E2-5DB7-4122-9B33-E01FFD499FC4}" srcId="{D2C72725-1CA4-4B76-80C2-9BA926A8A054}" destId="{A8EC772F-5853-4747-A2D3-A73B2693A4A0}" srcOrd="2" destOrd="0" parTransId="{2EE07876-E387-44C0-8A33-A5822E6A70DF}" sibTransId="{145FBEF7-31F4-4F7E-BB46-81CE45219845}"/>
    <dgm:cxn modelId="{8127FCED-A5D4-4DA9-B606-43BA4EC35065}" type="presOf" srcId="{29F95AB1-DF54-4706-A094-B585FE24C462}" destId="{1C7AC967-03FF-47A7-AEFA-EAB34AE31BDA}" srcOrd="0" destOrd="1" presId="urn:microsoft.com/office/officeart/2005/8/layout/vList2"/>
    <dgm:cxn modelId="{5438B3CD-7371-41B9-826B-164932523030}" type="presParOf" srcId="{05E8D4E0-0D1B-4AA9-AEDB-6BA17BE178D5}" destId="{9495BFD8-F5A1-4357-AA54-14C00C7559AF}" srcOrd="0" destOrd="0" presId="urn:microsoft.com/office/officeart/2005/8/layout/vList2"/>
    <dgm:cxn modelId="{D5E02402-A92C-4631-AF3E-F0BFA5B596B8}" type="presParOf" srcId="{05E8D4E0-0D1B-4AA9-AEDB-6BA17BE178D5}" destId="{1C7AC967-03FF-47A7-AEFA-EAB34AE31BD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6C881D-4B13-42E2-8DDC-7A063B80E3D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2C72725-1CA4-4B76-80C2-9BA926A8A054}">
      <dgm:prSet phldrT="[Texte]" custT="1"/>
      <dgm:spPr/>
      <dgm:t>
        <a:bodyPr/>
        <a:lstStyle/>
        <a:p>
          <a:r>
            <a:rPr lang="fr-FR" sz="2400" dirty="0"/>
            <a:t>Performance Logistique </a:t>
          </a:r>
        </a:p>
      </dgm:t>
    </dgm:pt>
    <dgm:pt modelId="{6502CAB8-BFEF-4A63-B320-ECC32C4AE81A}" type="parTrans" cxnId="{6B6D6918-293F-4612-98EC-56F39DAEEC59}">
      <dgm:prSet/>
      <dgm:spPr/>
      <dgm:t>
        <a:bodyPr/>
        <a:lstStyle/>
        <a:p>
          <a:endParaRPr lang="fr-FR"/>
        </a:p>
      </dgm:t>
    </dgm:pt>
    <dgm:pt modelId="{B40BF2E9-5DCB-48FD-B504-C481428B144E}" type="sibTrans" cxnId="{6B6D6918-293F-4612-98EC-56F39DAEEC59}">
      <dgm:prSet/>
      <dgm:spPr/>
      <dgm:t>
        <a:bodyPr/>
        <a:lstStyle/>
        <a:p>
          <a:endParaRPr lang="fr-FR"/>
        </a:p>
      </dgm:t>
    </dgm:pt>
    <dgm:pt modelId="{1F4DB497-B188-4D31-BB13-EEACD2A0718F}">
      <dgm:prSet phldrT="[Texte]" custT="1"/>
      <dgm:spPr/>
      <dgm:t>
        <a:bodyPr/>
        <a:lstStyle/>
        <a:p>
          <a:pPr>
            <a:lnSpc>
              <a:spcPct val="90000"/>
            </a:lnSpc>
          </a:pPr>
          <a:endParaRPr lang="fr-FR" sz="2000" dirty="0"/>
        </a:p>
      </dgm:t>
    </dgm:pt>
    <dgm:pt modelId="{5EE57DF8-874A-4F97-816A-3F8D8CFF6A77}" type="parTrans" cxnId="{5504A16C-E863-432B-ADDC-5E3D26E14EE9}">
      <dgm:prSet/>
      <dgm:spPr/>
      <dgm:t>
        <a:bodyPr/>
        <a:lstStyle/>
        <a:p>
          <a:endParaRPr lang="fr-FR"/>
        </a:p>
      </dgm:t>
    </dgm:pt>
    <dgm:pt modelId="{A680E1B2-D00D-4322-BC3B-C8C4B22D3DF8}" type="sibTrans" cxnId="{5504A16C-E863-432B-ADDC-5E3D26E14EE9}">
      <dgm:prSet/>
      <dgm:spPr/>
      <dgm:t>
        <a:bodyPr/>
        <a:lstStyle/>
        <a:p>
          <a:endParaRPr lang="fr-FR"/>
        </a:p>
      </dgm:t>
    </dgm:pt>
    <dgm:pt modelId="{CA08173C-F480-409C-8503-33B60A8904E4}">
      <dgm:prSet custT="1"/>
      <dgm:spPr/>
      <dgm:t>
        <a:bodyPr/>
        <a:lstStyle/>
        <a:p>
          <a:r>
            <a:rPr lang="fr-FR" sz="2000" dirty="0"/>
            <a:t>L’analyse du </a:t>
          </a:r>
          <a:r>
            <a:rPr lang="fr-FR" sz="2000" b="1" dirty="0"/>
            <a:t>rapport entre délai et coût de transport par statut (</a:t>
          </a:r>
          <a:r>
            <a:rPr lang="fr-FR" sz="2000" b="1" dirty="0" err="1"/>
            <a:t>Status</a:t>
          </a:r>
          <a:r>
            <a:rPr lang="fr-FR" sz="2000" b="1" dirty="0"/>
            <a:t>)</a:t>
          </a:r>
          <a:r>
            <a:rPr lang="fr-FR" sz="2000" dirty="0"/>
            <a:t> montre une </a:t>
          </a:r>
          <a:r>
            <a:rPr lang="fr-FR" sz="2000" b="1" dirty="0"/>
            <a:t>bonne cohérence logistique</a:t>
          </a:r>
          <a:r>
            <a:rPr lang="fr-FR" sz="2000" dirty="0"/>
            <a:t>, indiquant une </a:t>
          </a:r>
          <a:r>
            <a:rPr lang="fr-FR" sz="2000" b="1" dirty="0"/>
            <a:t>optimisation du rapport coût / délai</a:t>
          </a:r>
          <a:r>
            <a:rPr lang="fr-FR" sz="2000" dirty="0"/>
            <a:t>.</a:t>
          </a:r>
        </a:p>
      </dgm:t>
    </dgm:pt>
    <dgm:pt modelId="{E46549FC-DD5C-40B3-9A36-0204F1230804}" type="parTrans" cxnId="{2D34C134-42D6-47BA-B44D-BD877C04BC34}">
      <dgm:prSet/>
      <dgm:spPr/>
      <dgm:t>
        <a:bodyPr/>
        <a:lstStyle/>
        <a:p>
          <a:endParaRPr lang="fr-FR"/>
        </a:p>
      </dgm:t>
    </dgm:pt>
    <dgm:pt modelId="{BB216069-14B5-44D7-9AF1-5F5FB7ABE635}" type="sibTrans" cxnId="{2D34C134-42D6-47BA-B44D-BD877C04BC34}">
      <dgm:prSet/>
      <dgm:spPr/>
      <dgm:t>
        <a:bodyPr/>
        <a:lstStyle/>
        <a:p>
          <a:endParaRPr lang="fr-FR"/>
        </a:p>
      </dgm:t>
    </dgm:pt>
    <dgm:pt modelId="{CB5CEC38-6AB4-44E6-AB72-62C893C2A40B}">
      <dgm:prSet custT="1"/>
      <dgm:spPr/>
      <dgm:t>
        <a:bodyPr/>
        <a:lstStyle/>
        <a:p>
          <a:r>
            <a:rPr lang="fr-FR" sz="2000" dirty="0"/>
            <a:t>Le </a:t>
          </a:r>
          <a:r>
            <a:rPr lang="fr-FR" sz="2000" b="1" dirty="0" err="1"/>
            <a:t>Lead</a:t>
          </a:r>
          <a:r>
            <a:rPr lang="fr-FR" sz="2000" b="1" dirty="0"/>
            <a:t> Time moyen par fournisseur</a:t>
          </a:r>
          <a:r>
            <a:rPr lang="fr-FR" sz="2000" dirty="0"/>
            <a:t> varie légèrement entre </a:t>
          </a:r>
          <a:r>
            <a:rPr lang="fr-FR" sz="2000" b="1" dirty="0"/>
            <a:t>14,8454 et 15,1076 jours</a:t>
          </a:r>
          <a:r>
            <a:rPr lang="fr-FR" sz="2000" dirty="0"/>
            <a:t>, démontrant une </a:t>
          </a:r>
          <a:r>
            <a:rPr lang="fr-FR" sz="2000" b="1" dirty="0"/>
            <a:t>stabilité opérationnelle entre les partenaires logistiques.</a:t>
          </a:r>
          <a:endParaRPr lang="fr-FR" sz="2000" dirty="0"/>
        </a:p>
      </dgm:t>
    </dgm:pt>
    <dgm:pt modelId="{B3F657EA-5C7B-425A-B6DF-96E9B660646D}" type="parTrans" cxnId="{C5C61002-DD9C-438D-92D7-F825BEBF9846}">
      <dgm:prSet/>
      <dgm:spPr/>
      <dgm:t>
        <a:bodyPr/>
        <a:lstStyle/>
        <a:p>
          <a:endParaRPr lang="fr-FR"/>
        </a:p>
      </dgm:t>
    </dgm:pt>
    <dgm:pt modelId="{C782D2E9-5B73-4EFF-87FB-DA076024C583}" type="sibTrans" cxnId="{C5C61002-DD9C-438D-92D7-F825BEBF9846}">
      <dgm:prSet/>
      <dgm:spPr/>
      <dgm:t>
        <a:bodyPr/>
        <a:lstStyle/>
        <a:p>
          <a:endParaRPr lang="fr-FR"/>
        </a:p>
      </dgm:t>
    </dgm:pt>
    <dgm:pt modelId="{05E8D4E0-0D1B-4AA9-AEDB-6BA17BE178D5}" type="pres">
      <dgm:prSet presAssocID="{8B6C881D-4B13-42E2-8DDC-7A063B80E3D3}" presName="linear" presStyleCnt="0">
        <dgm:presLayoutVars>
          <dgm:animLvl val="lvl"/>
          <dgm:resizeHandles val="exact"/>
        </dgm:presLayoutVars>
      </dgm:prSet>
      <dgm:spPr/>
    </dgm:pt>
    <dgm:pt modelId="{9495BFD8-F5A1-4357-AA54-14C00C7559AF}" type="pres">
      <dgm:prSet presAssocID="{D2C72725-1CA4-4B76-80C2-9BA926A8A054}" presName="parentText" presStyleLbl="node1" presStyleIdx="0" presStyleCnt="1" custScaleY="115845" custLinFactNeighborY="9563">
        <dgm:presLayoutVars>
          <dgm:chMax val="0"/>
          <dgm:bulletEnabled val="1"/>
        </dgm:presLayoutVars>
      </dgm:prSet>
      <dgm:spPr/>
    </dgm:pt>
    <dgm:pt modelId="{1C7AC967-03FF-47A7-AEFA-EAB34AE31BDA}" type="pres">
      <dgm:prSet presAssocID="{D2C72725-1CA4-4B76-80C2-9BA926A8A054}" presName="childText" presStyleLbl="revTx" presStyleIdx="0" presStyleCnt="1" custScaleY="352794">
        <dgm:presLayoutVars>
          <dgm:bulletEnabled val="1"/>
        </dgm:presLayoutVars>
      </dgm:prSet>
      <dgm:spPr/>
    </dgm:pt>
  </dgm:ptLst>
  <dgm:cxnLst>
    <dgm:cxn modelId="{C5C61002-DD9C-438D-92D7-F825BEBF9846}" srcId="{D2C72725-1CA4-4B76-80C2-9BA926A8A054}" destId="{CB5CEC38-6AB4-44E6-AB72-62C893C2A40B}" srcOrd="2" destOrd="0" parTransId="{B3F657EA-5C7B-425A-B6DF-96E9B660646D}" sibTransId="{C782D2E9-5B73-4EFF-87FB-DA076024C583}"/>
    <dgm:cxn modelId="{6B6D6918-293F-4612-98EC-56F39DAEEC59}" srcId="{8B6C881D-4B13-42E2-8DDC-7A063B80E3D3}" destId="{D2C72725-1CA4-4B76-80C2-9BA926A8A054}" srcOrd="0" destOrd="0" parTransId="{6502CAB8-BFEF-4A63-B320-ECC32C4AE81A}" sibTransId="{B40BF2E9-5DCB-48FD-B504-C481428B144E}"/>
    <dgm:cxn modelId="{2D34C134-42D6-47BA-B44D-BD877C04BC34}" srcId="{D2C72725-1CA4-4B76-80C2-9BA926A8A054}" destId="{CA08173C-F480-409C-8503-33B60A8904E4}" srcOrd="1" destOrd="0" parTransId="{E46549FC-DD5C-40B3-9A36-0204F1230804}" sibTransId="{BB216069-14B5-44D7-9AF1-5F5FB7ABE635}"/>
    <dgm:cxn modelId="{B2F74A60-CC9A-4BA1-983E-25BFCEEDEDCB}" type="presOf" srcId="{CB5CEC38-6AB4-44E6-AB72-62C893C2A40B}" destId="{1C7AC967-03FF-47A7-AEFA-EAB34AE31BDA}" srcOrd="0" destOrd="2" presId="urn:microsoft.com/office/officeart/2005/8/layout/vList2"/>
    <dgm:cxn modelId="{5504A16C-E863-432B-ADDC-5E3D26E14EE9}" srcId="{D2C72725-1CA4-4B76-80C2-9BA926A8A054}" destId="{1F4DB497-B188-4D31-BB13-EEACD2A0718F}" srcOrd="0" destOrd="0" parTransId="{5EE57DF8-874A-4F97-816A-3F8D8CFF6A77}" sibTransId="{A680E1B2-D00D-4322-BC3B-C8C4B22D3DF8}"/>
    <dgm:cxn modelId="{BEADBC53-60FA-480D-B02A-7BCDAEC32F29}" type="presOf" srcId="{1F4DB497-B188-4D31-BB13-EEACD2A0718F}" destId="{1C7AC967-03FF-47A7-AEFA-EAB34AE31BDA}" srcOrd="0" destOrd="0" presId="urn:microsoft.com/office/officeart/2005/8/layout/vList2"/>
    <dgm:cxn modelId="{A7BC9274-3A2A-4D0C-AA79-55E2DAA053EB}" type="presOf" srcId="{CA08173C-F480-409C-8503-33B60A8904E4}" destId="{1C7AC967-03FF-47A7-AEFA-EAB34AE31BDA}" srcOrd="0" destOrd="1" presId="urn:microsoft.com/office/officeart/2005/8/layout/vList2"/>
    <dgm:cxn modelId="{CDDEA7BA-9714-4583-9442-E85D8763E105}" type="presOf" srcId="{D2C72725-1CA4-4B76-80C2-9BA926A8A054}" destId="{9495BFD8-F5A1-4357-AA54-14C00C7559AF}" srcOrd="0" destOrd="0" presId="urn:microsoft.com/office/officeart/2005/8/layout/vList2"/>
    <dgm:cxn modelId="{710E30BC-9A52-4130-AA52-C9CDACB02C1C}" type="presOf" srcId="{8B6C881D-4B13-42E2-8DDC-7A063B80E3D3}" destId="{05E8D4E0-0D1B-4AA9-AEDB-6BA17BE178D5}" srcOrd="0" destOrd="0" presId="urn:microsoft.com/office/officeart/2005/8/layout/vList2"/>
    <dgm:cxn modelId="{FD4D2E94-6B9C-44AC-895D-69ABC6E28D39}" type="presParOf" srcId="{05E8D4E0-0D1B-4AA9-AEDB-6BA17BE178D5}" destId="{9495BFD8-F5A1-4357-AA54-14C00C7559AF}" srcOrd="0" destOrd="0" presId="urn:microsoft.com/office/officeart/2005/8/layout/vList2"/>
    <dgm:cxn modelId="{07CD3571-8F2D-4279-9538-570D54A4FB00}" type="presParOf" srcId="{05E8D4E0-0D1B-4AA9-AEDB-6BA17BE178D5}" destId="{1C7AC967-03FF-47A7-AEFA-EAB34AE31BD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6C881D-4B13-42E2-8DDC-7A063B80E3D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2C72725-1CA4-4B76-80C2-9BA926A8A054}">
      <dgm:prSet phldrT="[Texte]" custT="1"/>
      <dgm:spPr/>
      <dgm:t>
        <a:bodyPr/>
        <a:lstStyle/>
        <a:p>
          <a:r>
            <a:rPr lang="fr-FR" sz="2400" b="1" dirty="0"/>
            <a:t>Taux d’annulation des commandes</a:t>
          </a:r>
          <a:endParaRPr lang="fr-FR" sz="2400" dirty="0"/>
        </a:p>
      </dgm:t>
    </dgm:pt>
    <dgm:pt modelId="{6502CAB8-BFEF-4A63-B320-ECC32C4AE81A}" type="parTrans" cxnId="{6B6D6918-293F-4612-98EC-56F39DAEEC59}">
      <dgm:prSet/>
      <dgm:spPr/>
      <dgm:t>
        <a:bodyPr/>
        <a:lstStyle/>
        <a:p>
          <a:endParaRPr lang="fr-FR"/>
        </a:p>
      </dgm:t>
    </dgm:pt>
    <dgm:pt modelId="{B40BF2E9-5DCB-48FD-B504-C481428B144E}" type="sibTrans" cxnId="{6B6D6918-293F-4612-98EC-56F39DAEEC59}">
      <dgm:prSet/>
      <dgm:spPr/>
      <dgm:t>
        <a:bodyPr/>
        <a:lstStyle/>
        <a:p>
          <a:endParaRPr lang="fr-FR"/>
        </a:p>
      </dgm:t>
    </dgm:pt>
    <dgm:pt modelId="{B3BA66FC-4E4D-4C91-9A2B-3B52FC95C22E}">
      <dgm:prSet/>
      <dgm:spPr/>
      <dgm:t>
        <a:bodyPr/>
        <a:lstStyle/>
        <a:p>
          <a:pPr>
            <a:lnSpc>
              <a:spcPct val="90000"/>
            </a:lnSpc>
          </a:pPr>
          <a:endParaRPr lang="fr-FR" sz="3600" dirty="0"/>
        </a:p>
      </dgm:t>
    </dgm:pt>
    <dgm:pt modelId="{A4B3DB26-83E1-43BF-8CB8-3CBFA8A054C8}" type="parTrans" cxnId="{1471CD18-C110-4242-95E7-1B740354D58B}">
      <dgm:prSet/>
      <dgm:spPr/>
      <dgm:t>
        <a:bodyPr/>
        <a:lstStyle/>
        <a:p>
          <a:endParaRPr lang="fr-FR"/>
        </a:p>
      </dgm:t>
    </dgm:pt>
    <dgm:pt modelId="{E6AA9BFD-5CA1-4925-A3B2-6A9B75C71AA9}" type="sibTrans" cxnId="{1471CD18-C110-4242-95E7-1B740354D58B}">
      <dgm:prSet/>
      <dgm:spPr/>
      <dgm:t>
        <a:bodyPr/>
        <a:lstStyle/>
        <a:p>
          <a:endParaRPr lang="fr-FR"/>
        </a:p>
      </dgm:t>
    </dgm:pt>
    <dgm:pt modelId="{D2D47985-9EB9-4559-98D8-3451CB095E82}">
      <dgm:prSet phldrT="[Texte]" custT="1"/>
      <dgm:spPr/>
      <dgm:t>
        <a:bodyPr/>
        <a:lstStyle/>
        <a:p>
          <a:pPr>
            <a:lnSpc>
              <a:spcPct val="90000"/>
            </a:lnSpc>
          </a:pPr>
          <a:r>
            <a:rPr lang="fr-FR" sz="2000" b="1" dirty="0"/>
            <a:t>T1 2023 :</a:t>
          </a:r>
          <a:r>
            <a:rPr lang="fr-FR" sz="2000" dirty="0"/>
            <a:t> 7,42 %</a:t>
          </a:r>
        </a:p>
      </dgm:t>
    </dgm:pt>
    <dgm:pt modelId="{CCF18772-1D1C-48D5-A73F-CCAF22F867B7}" type="parTrans" cxnId="{F80DEC46-E13A-471C-A5CA-B4E86BC837CD}">
      <dgm:prSet/>
      <dgm:spPr/>
      <dgm:t>
        <a:bodyPr/>
        <a:lstStyle/>
        <a:p>
          <a:endParaRPr lang="fr-FR"/>
        </a:p>
      </dgm:t>
    </dgm:pt>
    <dgm:pt modelId="{021F99E1-B227-4F79-B365-CE129149089A}" type="sibTrans" cxnId="{F80DEC46-E13A-471C-A5CA-B4E86BC837CD}">
      <dgm:prSet/>
      <dgm:spPr/>
      <dgm:t>
        <a:bodyPr/>
        <a:lstStyle/>
        <a:p>
          <a:endParaRPr lang="fr-FR"/>
        </a:p>
      </dgm:t>
    </dgm:pt>
    <dgm:pt modelId="{76BF76FD-49C9-4236-9BE4-AD0D7D5414B1}">
      <dgm:prSet/>
      <dgm:spPr/>
      <dgm:t>
        <a:bodyPr/>
        <a:lstStyle/>
        <a:p>
          <a:r>
            <a:rPr lang="fr-FR" b="1" dirty="0"/>
            <a:t>T1 2024 :</a:t>
          </a:r>
          <a:r>
            <a:rPr lang="fr-FR" dirty="0"/>
            <a:t> 6,31 %</a:t>
          </a:r>
        </a:p>
      </dgm:t>
    </dgm:pt>
    <dgm:pt modelId="{560496E6-AC7D-447B-98F3-5BA87B109F05}" type="parTrans" cxnId="{7B1E530F-B6D1-4574-A866-6E31F423F9B8}">
      <dgm:prSet/>
      <dgm:spPr/>
      <dgm:t>
        <a:bodyPr/>
        <a:lstStyle/>
        <a:p>
          <a:endParaRPr lang="fr-FR"/>
        </a:p>
      </dgm:t>
    </dgm:pt>
    <dgm:pt modelId="{020C26DA-990E-47AB-B331-BC19078E7C4E}" type="sibTrans" cxnId="{7B1E530F-B6D1-4574-A866-6E31F423F9B8}">
      <dgm:prSet/>
      <dgm:spPr/>
      <dgm:t>
        <a:bodyPr/>
        <a:lstStyle/>
        <a:p>
          <a:endParaRPr lang="fr-FR"/>
        </a:p>
      </dgm:t>
    </dgm:pt>
    <dgm:pt modelId="{847B442A-A60A-4B48-8B84-110526E3E874}">
      <dgm:prSet/>
      <dgm:spPr/>
      <dgm:t>
        <a:bodyPr/>
        <a:lstStyle/>
        <a:p>
          <a:r>
            <a:rPr lang="fr-FR" b="1" dirty="0"/>
            <a:t>T3 2024 :</a:t>
          </a:r>
          <a:r>
            <a:rPr lang="fr-FR" dirty="0"/>
            <a:t> 7,48 %</a:t>
          </a:r>
        </a:p>
      </dgm:t>
    </dgm:pt>
    <dgm:pt modelId="{A6A8ABD1-886D-409E-83A4-ACD2AC59B0A0}" type="parTrans" cxnId="{8C7CE42E-C830-4810-BC85-B066B209079B}">
      <dgm:prSet/>
      <dgm:spPr/>
      <dgm:t>
        <a:bodyPr/>
        <a:lstStyle/>
        <a:p>
          <a:endParaRPr lang="fr-FR"/>
        </a:p>
      </dgm:t>
    </dgm:pt>
    <dgm:pt modelId="{0E256C1C-2636-43D2-8BC2-B4E84C81FD15}" type="sibTrans" cxnId="{8C7CE42E-C830-4810-BC85-B066B209079B}">
      <dgm:prSet/>
      <dgm:spPr/>
      <dgm:t>
        <a:bodyPr/>
        <a:lstStyle/>
        <a:p>
          <a:endParaRPr lang="fr-FR"/>
        </a:p>
      </dgm:t>
    </dgm:pt>
    <dgm:pt modelId="{FB96832D-0652-41B0-A35C-7FB7F5F6A323}">
      <dgm:prSet/>
      <dgm:spPr/>
      <dgm:t>
        <a:bodyPr/>
        <a:lstStyle/>
        <a:p>
          <a:r>
            <a:rPr lang="fr-FR" b="1" dirty="0"/>
            <a:t>T4 2024 :</a:t>
          </a:r>
          <a:r>
            <a:rPr lang="fr-FR" dirty="0"/>
            <a:t> taux stable autour de 7,4 %</a:t>
          </a:r>
        </a:p>
      </dgm:t>
    </dgm:pt>
    <dgm:pt modelId="{B27CEC08-292A-44E3-B3AE-ECBE851C7AE0}" type="parTrans" cxnId="{8B3D24A6-29E8-42FA-9047-AA21203F3B60}">
      <dgm:prSet/>
      <dgm:spPr/>
      <dgm:t>
        <a:bodyPr/>
        <a:lstStyle/>
        <a:p>
          <a:endParaRPr lang="fr-FR"/>
        </a:p>
      </dgm:t>
    </dgm:pt>
    <dgm:pt modelId="{18BD8BC9-23A5-4E2F-AC6B-254D881CE045}" type="sibTrans" cxnId="{8B3D24A6-29E8-42FA-9047-AA21203F3B60}">
      <dgm:prSet/>
      <dgm:spPr/>
      <dgm:t>
        <a:bodyPr/>
        <a:lstStyle/>
        <a:p>
          <a:endParaRPr lang="fr-FR"/>
        </a:p>
      </dgm:t>
    </dgm:pt>
    <dgm:pt modelId="{05E8D4E0-0D1B-4AA9-AEDB-6BA17BE178D5}" type="pres">
      <dgm:prSet presAssocID="{8B6C881D-4B13-42E2-8DDC-7A063B80E3D3}" presName="linear" presStyleCnt="0">
        <dgm:presLayoutVars>
          <dgm:animLvl val="lvl"/>
          <dgm:resizeHandles val="exact"/>
        </dgm:presLayoutVars>
      </dgm:prSet>
      <dgm:spPr/>
    </dgm:pt>
    <dgm:pt modelId="{9495BFD8-F5A1-4357-AA54-14C00C7559AF}" type="pres">
      <dgm:prSet presAssocID="{D2C72725-1CA4-4B76-80C2-9BA926A8A054}" presName="parentText" presStyleLbl="node1" presStyleIdx="0" presStyleCnt="1" custScaleY="115845" custLinFactNeighborX="-6944" custLinFactNeighborY="10992">
        <dgm:presLayoutVars>
          <dgm:chMax val="0"/>
          <dgm:bulletEnabled val="1"/>
        </dgm:presLayoutVars>
      </dgm:prSet>
      <dgm:spPr/>
    </dgm:pt>
    <dgm:pt modelId="{1C7AC967-03FF-47A7-AEFA-EAB34AE31BDA}" type="pres">
      <dgm:prSet presAssocID="{D2C72725-1CA4-4B76-80C2-9BA926A8A054}" presName="childText" presStyleLbl="revTx" presStyleIdx="0" presStyleCnt="1" custScaleY="352794">
        <dgm:presLayoutVars>
          <dgm:bulletEnabled val="1"/>
        </dgm:presLayoutVars>
      </dgm:prSet>
      <dgm:spPr/>
    </dgm:pt>
  </dgm:ptLst>
  <dgm:cxnLst>
    <dgm:cxn modelId="{FA99730E-D118-402B-857A-D7B1D4587C68}" type="presOf" srcId="{D2C72725-1CA4-4B76-80C2-9BA926A8A054}" destId="{9495BFD8-F5A1-4357-AA54-14C00C7559AF}" srcOrd="0" destOrd="0" presId="urn:microsoft.com/office/officeart/2005/8/layout/vList2"/>
    <dgm:cxn modelId="{7B1E530F-B6D1-4574-A866-6E31F423F9B8}" srcId="{D2C72725-1CA4-4B76-80C2-9BA926A8A054}" destId="{76BF76FD-49C9-4236-9BE4-AD0D7D5414B1}" srcOrd="1" destOrd="0" parTransId="{560496E6-AC7D-447B-98F3-5BA87B109F05}" sibTransId="{020C26DA-990E-47AB-B331-BC19078E7C4E}"/>
    <dgm:cxn modelId="{6B6D6918-293F-4612-98EC-56F39DAEEC59}" srcId="{8B6C881D-4B13-42E2-8DDC-7A063B80E3D3}" destId="{D2C72725-1CA4-4B76-80C2-9BA926A8A054}" srcOrd="0" destOrd="0" parTransId="{6502CAB8-BFEF-4A63-B320-ECC32C4AE81A}" sibTransId="{B40BF2E9-5DCB-48FD-B504-C481428B144E}"/>
    <dgm:cxn modelId="{1471CD18-C110-4242-95E7-1B740354D58B}" srcId="{D2C72725-1CA4-4B76-80C2-9BA926A8A054}" destId="{B3BA66FC-4E4D-4C91-9A2B-3B52FC95C22E}" srcOrd="4" destOrd="0" parTransId="{A4B3DB26-83E1-43BF-8CB8-3CBFA8A054C8}" sibTransId="{E6AA9BFD-5CA1-4925-A3B2-6A9B75C71AA9}"/>
    <dgm:cxn modelId="{8C7CE42E-C830-4810-BC85-B066B209079B}" srcId="{D2C72725-1CA4-4B76-80C2-9BA926A8A054}" destId="{847B442A-A60A-4B48-8B84-110526E3E874}" srcOrd="2" destOrd="0" parTransId="{A6A8ABD1-886D-409E-83A4-ACD2AC59B0A0}" sibTransId="{0E256C1C-2636-43D2-8BC2-B4E84C81FD15}"/>
    <dgm:cxn modelId="{DC288C2F-C159-49C5-9C93-BE24C347F736}" type="presOf" srcId="{FB96832D-0652-41B0-A35C-7FB7F5F6A323}" destId="{1C7AC967-03FF-47A7-AEFA-EAB34AE31BDA}" srcOrd="0" destOrd="3" presId="urn:microsoft.com/office/officeart/2005/8/layout/vList2"/>
    <dgm:cxn modelId="{F80DEC46-E13A-471C-A5CA-B4E86BC837CD}" srcId="{D2C72725-1CA4-4B76-80C2-9BA926A8A054}" destId="{D2D47985-9EB9-4559-98D8-3451CB095E82}" srcOrd="0" destOrd="0" parTransId="{CCF18772-1D1C-48D5-A73F-CCAF22F867B7}" sibTransId="{021F99E1-B227-4F79-B365-CE129149089A}"/>
    <dgm:cxn modelId="{BA58FD53-5043-44F6-BF30-8E2DC7142A1E}" type="presOf" srcId="{B3BA66FC-4E4D-4C91-9A2B-3B52FC95C22E}" destId="{1C7AC967-03FF-47A7-AEFA-EAB34AE31BDA}" srcOrd="0" destOrd="4" presId="urn:microsoft.com/office/officeart/2005/8/layout/vList2"/>
    <dgm:cxn modelId="{B61AA384-83A4-4C3D-A1A1-4786F85A3D9D}" type="presOf" srcId="{D2D47985-9EB9-4559-98D8-3451CB095E82}" destId="{1C7AC967-03FF-47A7-AEFA-EAB34AE31BDA}" srcOrd="0" destOrd="0" presId="urn:microsoft.com/office/officeart/2005/8/layout/vList2"/>
    <dgm:cxn modelId="{C9799585-79EC-4491-BB85-6E64D3113C5B}" type="presOf" srcId="{76BF76FD-49C9-4236-9BE4-AD0D7D5414B1}" destId="{1C7AC967-03FF-47A7-AEFA-EAB34AE31BDA}" srcOrd="0" destOrd="1" presId="urn:microsoft.com/office/officeart/2005/8/layout/vList2"/>
    <dgm:cxn modelId="{21F5B696-1514-4178-9198-26060AABDE83}" type="presOf" srcId="{8B6C881D-4B13-42E2-8DDC-7A063B80E3D3}" destId="{05E8D4E0-0D1B-4AA9-AEDB-6BA17BE178D5}" srcOrd="0" destOrd="0" presId="urn:microsoft.com/office/officeart/2005/8/layout/vList2"/>
    <dgm:cxn modelId="{8B3D24A6-29E8-42FA-9047-AA21203F3B60}" srcId="{D2C72725-1CA4-4B76-80C2-9BA926A8A054}" destId="{FB96832D-0652-41B0-A35C-7FB7F5F6A323}" srcOrd="3" destOrd="0" parTransId="{B27CEC08-292A-44E3-B3AE-ECBE851C7AE0}" sibTransId="{18BD8BC9-23A5-4E2F-AC6B-254D881CE045}"/>
    <dgm:cxn modelId="{4C5D2FE1-A4A9-4B1E-8E8C-C4D19E0D07B7}" type="presOf" srcId="{847B442A-A60A-4B48-8B84-110526E3E874}" destId="{1C7AC967-03FF-47A7-AEFA-EAB34AE31BDA}" srcOrd="0" destOrd="2" presId="urn:microsoft.com/office/officeart/2005/8/layout/vList2"/>
    <dgm:cxn modelId="{CBF6A707-BBBD-4BCE-87D4-A03AA98BA6FC}" type="presParOf" srcId="{05E8D4E0-0D1B-4AA9-AEDB-6BA17BE178D5}" destId="{9495BFD8-F5A1-4357-AA54-14C00C7559AF}" srcOrd="0" destOrd="0" presId="urn:microsoft.com/office/officeart/2005/8/layout/vList2"/>
    <dgm:cxn modelId="{B4C6C302-FB58-4F43-BD3E-9A6C9493A603}" type="presParOf" srcId="{05E8D4E0-0D1B-4AA9-AEDB-6BA17BE178D5}" destId="{1C7AC967-03FF-47A7-AEFA-EAB34AE31BD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5BFD8-F5A1-4357-AA54-14C00C7559AF}">
      <dsp:nvSpPr>
        <dsp:cNvPr id="0" name=""/>
        <dsp:cNvSpPr/>
      </dsp:nvSpPr>
      <dsp:spPr>
        <a:xfrm>
          <a:off x="0" y="138373"/>
          <a:ext cx="8643998" cy="5051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0000"/>
                <a:satMod val="130000"/>
              </a:schemeClr>
            </a:gs>
            <a:gs pos="43000">
              <a:schemeClr val="accent1">
                <a:hueOff val="0"/>
                <a:satOff val="0"/>
                <a:lumOff val="0"/>
                <a:alphaOff val="0"/>
                <a:tint val="44000"/>
                <a:satMod val="165000"/>
              </a:schemeClr>
            </a:gs>
            <a:gs pos="93000">
              <a:schemeClr val="accent1">
                <a:hueOff val="0"/>
                <a:satOff val="0"/>
                <a:lumOff val="0"/>
                <a:alphaOff val="0"/>
                <a:tint val="15000"/>
                <a:satMod val="16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Analyse du chiffre d’affaires</a:t>
          </a:r>
          <a:endParaRPr lang="fr-FR" sz="2400" kern="1200" dirty="0"/>
        </a:p>
      </dsp:txBody>
      <dsp:txXfrm>
        <a:off x="24658" y="163031"/>
        <a:ext cx="8594682" cy="455812"/>
      </dsp:txXfrm>
    </dsp:sp>
    <dsp:sp modelId="{1C7AC967-03FF-47A7-AEFA-EAB34AE31BDA}">
      <dsp:nvSpPr>
        <dsp:cNvPr id="0" name=""/>
        <dsp:cNvSpPr/>
      </dsp:nvSpPr>
      <dsp:spPr>
        <a:xfrm>
          <a:off x="0" y="507232"/>
          <a:ext cx="8643998" cy="1490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44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20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Le </a:t>
          </a:r>
          <a:r>
            <a:rPr lang="fr-FR" sz="1800" b="1" kern="1200" dirty="0"/>
            <a:t>chiffre d’affaires </a:t>
          </a:r>
          <a:r>
            <a:rPr lang="fr-FR" sz="1800" kern="1200" dirty="0"/>
            <a:t>a augmenté de </a:t>
          </a:r>
          <a:r>
            <a:rPr lang="fr-FR" sz="1800" b="1" kern="1200" dirty="0"/>
            <a:t>+0,008337 % en 2024</a:t>
          </a:r>
          <a:r>
            <a:rPr lang="fr-FR" sz="1800" kern="1200" dirty="0"/>
            <a:t> par rapport à 2023.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Une </a:t>
          </a:r>
          <a:r>
            <a:rPr lang="fr-FR" sz="1800" b="1" kern="1200" dirty="0"/>
            <a:t>chute marquée</a:t>
          </a:r>
          <a:r>
            <a:rPr lang="fr-FR" sz="1800" kern="1200" dirty="0"/>
            <a:t> a été observée en </a:t>
          </a:r>
          <a:r>
            <a:rPr lang="fr-FR" sz="1800" b="1" kern="1200" dirty="0"/>
            <a:t>novembre 2023</a:t>
          </a:r>
          <a:r>
            <a:rPr lang="fr-FR" sz="1800" kern="1200" dirty="0"/>
            <a:t>, suivie d’une </a:t>
          </a:r>
          <a:r>
            <a:rPr lang="fr-FR" sz="1800" b="1" kern="1200" dirty="0"/>
            <a:t>reprise rapide en décembre 2023</a:t>
          </a:r>
          <a:r>
            <a:rPr lang="fr-FR" sz="1800" kern="1200" dirty="0"/>
            <a:t>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Le </a:t>
          </a:r>
          <a:r>
            <a:rPr lang="fr-FR" sz="1800" b="1" kern="1200" dirty="0"/>
            <a:t>meilleur chiffre d’affaires</a:t>
          </a:r>
          <a:r>
            <a:rPr lang="fr-FR" sz="1800" kern="1200" dirty="0"/>
            <a:t> a été enregistré en </a:t>
          </a:r>
          <a:r>
            <a:rPr lang="fr-FR" sz="1800" b="1" kern="1200" dirty="0"/>
            <a:t>mai 2024</a:t>
          </a:r>
          <a:r>
            <a:rPr lang="fr-FR" sz="1800" kern="1200" dirty="0"/>
            <a:t>.</a:t>
          </a:r>
        </a:p>
      </dsp:txBody>
      <dsp:txXfrm>
        <a:off x="0" y="507232"/>
        <a:ext cx="8643998" cy="1490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5BFD8-F5A1-4357-AA54-14C00C7559AF}">
      <dsp:nvSpPr>
        <dsp:cNvPr id="0" name=""/>
        <dsp:cNvSpPr/>
      </dsp:nvSpPr>
      <dsp:spPr>
        <a:xfrm>
          <a:off x="0" y="0"/>
          <a:ext cx="8319319" cy="4740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0000"/>
                <a:satMod val="130000"/>
              </a:schemeClr>
            </a:gs>
            <a:gs pos="43000">
              <a:schemeClr val="accent1">
                <a:hueOff val="0"/>
                <a:satOff val="0"/>
                <a:lumOff val="0"/>
                <a:alphaOff val="0"/>
                <a:tint val="44000"/>
                <a:satMod val="165000"/>
              </a:schemeClr>
            </a:gs>
            <a:gs pos="93000">
              <a:schemeClr val="accent1">
                <a:hueOff val="0"/>
                <a:satOff val="0"/>
                <a:lumOff val="0"/>
                <a:alphaOff val="0"/>
                <a:tint val="15000"/>
                <a:satMod val="16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Analyse des commandes</a:t>
          </a:r>
          <a:endParaRPr lang="fr-FR" sz="2000" kern="1200" dirty="0"/>
        </a:p>
      </dsp:txBody>
      <dsp:txXfrm>
        <a:off x="23142" y="23142"/>
        <a:ext cx="8273035" cy="427772"/>
      </dsp:txXfrm>
    </dsp:sp>
    <dsp:sp modelId="{1C7AC967-03FF-47A7-AEFA-EAB34AE31BDA}">
      <dsp:nvSpPr>
        <dsp:cNvPr id="0" name=""/>
        <dsp:cNvSpPr/>
      </dsp:nvSpPr>
      <dsp:spPr>
        <a:xfrm>
          <a:off x="0" y="321470"/>
          <a:ext cx="8715436" cy="1418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671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Les produits </a:t>
          </a:r>
          <a:r>
            <a:rPr lang="fr-FR" sz="2000" b="1" kern="1200" dirty="0" err="1"/>
            <a:t>Clothing</a:t>
          </a:r>
          <a:r>
            <a:rPr lang="fr-FR" sz="2000" b="1" kern="1200" dirty="0"/>
            <a:t> </a:t>
          </a:r>
          <a:r>
            <a:rPr lang="fr-FR" sz="2000" kern="1200" dirty="0"/>
            <a:t>et </a:t>
          </a:r>
          <a:r>
            <a:rPr lang="fr-FR" sz="2000" b="1" kern="1200" dirty="0"/>
            <a:t>Cosmétique</a:t>
          </a:r>
          <a:r>
            <a:rPr lang="fr-FR" sz="2000" kern="1200" dirty="0"/>
            <a:t> génèrent le plus de revenu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Forte activité sur les régions </a:t>
          </a:r>
          <a:r>
            <a:rPr lang="fr-FR" sz="2000" b="1" kern="1200" dirty="0" err="1"/>
            <a:t>North</a:t>
          </a:r>
          <a:r>
            <a:rPr lang="fr-FR" sz="2000" b="1" kern="1200" dirty="0"/>
            <a:t> </a:t>
          </a:r>
          <a:r>
            <a:rPr lang="fr-FR" sz="2000" b="1" kern="1200" dirty="0" err="1"/>
            <a:t>America</a:t>
          </a:r>
          <a:r>
            <a:rPr lang="fr-FR" sz="2000" b="1" kern="1200" dirty="0"/>
            <a:t>, </a:t>
          </a:r>
          <a:r>
            <a:rPr lang="fr-FR" sz="2000" b="1" kern="1200" dirty="0" err="1"/>
            <a:t>Asia</a:t>
          </a:r>
          <a:r>
            <a:rPr lang="fr-FR" sz="2000" b="1" kern="1200" dirty="0"/>
            <a:t> et </a:t>
          </a:r>
          <a:r>
            <a:rPr lang="fr-FR" sz="2000" b="1" kern="1200" dirty="0" err="1"/>
            <a:t>Africa</a:t>
          </a:r>
          <a:r>
            <a:rPr lang="fr-FR" sz="2000" kern="1200" dirty="0"/>
            <a:t>.</a:t>
          </a:r>
        </a:p>
      </dsp:txBody>
      <dsp:txXfrm>
        <a:off x="0" y="321470"/>
        <a:ext cx="8715436" cy="14186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5BFD8-F5A1-4357-AA54-14C00C7559AF}">
      <dsp:nvSpPr>
        <dsp:cNvPr id="0" name=""/>
        <dsp:cNvSpPr/>
      </dsp:nvSpPr>
      <dsp:spPr>
        <a:xfrm>
          <a:off x="0" y="60238"/>
          <a:ext cx="8229600" cy="54334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0000"/>
                <a:satMod val="130000"/>
              </a:schemeClr>
            </a:gs>
            <a:gs pos="43000">
              <a:schemeClr val="accent1">
                <a:hueOff val="0"/>
                <a:satOff val="0"/>
                <a:lumOff val="0"/>
                <a:alphaOff val="0"/>
                <a:tint val="44000"/>
                <a:satMod val="165000"/>
              </a:schemeClr>
            </a:gs>
            <a:gs pos="93000">
              <a:schemeClr val="accent1">
                <a:hueOff val="0"/>
                <a:satOff val="0"/>
                <a:lumOff val="0"/>
                <a:alphaOff val="0"/>
                <a:tint val="15000"/>
                <a:satMod val="16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Performance Logistique </a:t>
          </a:r>
        </a:p>
      </dsp:txBody>
      <dsp:txXfrm>
        <a:off x="26524" y="86762"/>
        <a:ext cx="8176552" cy="490297"/>
      </dsp:txXfrm>
    </dsp:sp>
    <dsp:sp modelId="{1C7AC967-03FF-47A7-AEFA-EAB34AE31BDA}">
      <dsp:nvSpPr>
        <dsp:cNvPr id="0" name=""/>
        <dsp:cNvSpPr/>
      </dsp:nvSpPr>
      <dsp:spPr>
        <a:xfrm>
          <a:off x="0" y="543897"/>
          <a:ext cx="8229600" cy="2201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L’analyse du </a:t>
          </a:r>
          <a:r>
            <a:rPr lang="fr-FR" sz="2000" b="1" kern="1200" dirty="0"/>
            <a:t>rapport entre délai et coût de transport par statut (</a:t>
          </a:r>
          <a:r>
            <a:rPr lang="fr-FR" sz="2000" b="1" kern="1200" dirty="0" err="1"/>
            <a:t>Status</a:t>
          </a:r>
          <a:r>
            <a:rPr lang="fr-FR" sz="2000" b="1" kern="1200" dirty="0"/>
            <a:t>)</a:t>
          </a:r>
          <a:r>
            <a:rPr lang="fr-FR" sz="2000" kern="1200" dirty="0"/>
            <a:t> montre une </a:t>
          </a:r>
          <a:r>
            <a:rPr lang="fr-FR" sz="2000" b="1" kern="1200" dirty="0"/>
            <a:t>bonne cohérence logistique</a:t>
          </a:r>
          <a:r>
            <a:rPr lang="fr-FR" sz="2000" kern="1200" dirty="0"/>
            <a:t>, indiquant une </a:t>
          </a:r>
          <a:r>
            <a:rPr lang="fr-FR" sz="2000" b="1" kern="1200" dirty="0"/>
            <a:t>optimisation du rapport coût / délai</a:t>
          </a:r>
          <a:r>
            <a:rPr lang="fr-FR" sz="2000" kern="1200" dirty="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Le </a:t>
          </a:r>
          <a:r>
            <a:rPr lang="fr-FR" sz="2000" b="1" kern="1200" dirty="0" err="1"/>
            <a:t>Lead</a:t>
          </a:r>
          <a:r>
            <a:rPr lang="fr-FR" sz="2000" b="1" kern="1200" dirty="0"/>
            <a:t> Time moyen par fournisseur</a:t>
          </a:r>
          <a:r>
            <a:rPr lang="fr-FR" sz="2000" kern="1200" dirty="0"/>
            <a:t> varie légèrement entre </a:t>
          </a:r>
          <a:r>
            <a:rPr lang="fr-FR" sz="2000" b="1" kern="1200" dirty="0"/>
            <a:t>14,8454 et 15,1076 jours</a:t>
          </a:r>
          <a:r>
            <a:rPr lang="fr-FR" sz="2000" kern="1200" dirty="0"/>
            <a:t>, démontrant une </a:t>
          </a:r>
          <a:r>
            <a:rPr lang="fr-FR" sz="2000" b="1" kern="1200" dirty="0"/>
            <a:t>stabilité opérationnelle entre les partenaires logistiques.</a:t>
          </a:r>
          <a:endParaRPr lang="fr-FR" sz="2000" kern="1200" dirty="0"/>
        </a:p>
      </dsp:txBody>
      <dsp:txXfrm>
        <a:off x="0" y="543897"/>
        <a:ext cx="8229600" cy="2201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5BFD8-F5A1-4357-AA54-14C00C7559AF}">
      <dsp:nvSpPr>
        <dsp:cNvPr id="0" name=""/>
        <dsp:cNvSpPr/>
      </dsp:nvSpPr>
      <dsp:spPr>
        <a:xfrm>
          <a:off x="0" y="39299"/>
          <a:ext cx="8429684" cy="48510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0000"/>
                <a:satMod val="130000"/>
              </a:schemeClr>
            </a:gs>
            <a:gs pos="43000">
              <a:schemeClr val="accent1">
                <a:hueOff val="0"/>
                <a:satOff val="0"/>
                <a:lumOff val="0"/>
                <a:alphaOff val="0"/>
                <a:tint val="44000"/>
                <a:satMod val="165000"/>
              </a:schemeClr>
            </a:gs>
            <a:gs pos="93000">
              <a:schemeClr val="accent1">
                <a:hueOff val="0"/>
                <a:satOff val="0"/>
                <a:lumOff val="0"/>
                <a:alphaOff val="0"/>
                <a:tint val="15000"/>
                <a:satMod val="16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Taux d’annulation des commandes</a:t>
          </a:r>
          <a:endParaRPr lang="fr-FR" sz="2400" kern="1200" dirty="0"/>
        </a:p>
      </dsp:txBody>
      <dsp:txXfrm>
        <a:off x="23681" y="62980"/>
        <a:ext cx="8382322" cy="437744"/>
      </dsp:txXfrm>
    </dsp:sp>
    <dsp:sp modelId="{1C7AC967-03FF-47A7-AEFA-EAB34AE31BDA}">
      <dsp:nvSpPr>
        <dsp:cNvPr id="0" name=""/>
        <dsp:cNvSpPr/>
      </dsp:nvSpPr>
      <dsp:spPr>
        <a:xfrm>
          <a:off x="0" y="486168"/>
          <a:ext cx="8429684" cy="1227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64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b="1" kern="1200" dirty="0"/>
            <a:t>T1 2023 :</a:t>
          </a:r>
          <a:r>
            <a:rPr lang="fr-FR" sz="2000" kern="1200" dirty="0"/>
            <a:t> 7,42 %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/>
            <a:t>T1 2024 :</a:t>
          </a:r>
          <a:r>
            <a:rPr lang="fr-FR" sz="1600" kern="1200" dirty="0"/>
            <a:t> 6,31 %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/>
            <a:t>T3 2024 :</a:t>
          </a:r>
          <a:r>
            <a:rPr lang="fr-FR" sz="1600" kern="1200" dirty="0"/>
            <a:t> 7,48 %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/>
            <a:t>T4 2024 :</a:t>
          </a:r>
          <a:r>
            <a:rPr lang="fr-FR" sz="1600" kern="1200" dirty="0"/>
            <a:t> taux stable autour de 7,4 %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600" kern="1200" dirty="0"/>
        </a:p>
      </dsp:txBody>
      <dsp:txXfrm>
        <a:off x="0" y="486168"/>
        <a:ext cx="8429684" cy="1227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C1645-8507-4E48-84A0-2927F2717094}" type="datetimeFigureOut">
              <a:rPr lang="fr-FR" smtClean="0"/>
              <a:pPr/>
              <a:t>10/02/2026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7435F-AB07-4EDB-828D-036EABEB34F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DC0D8-71F8-4A8C-ACD8-E87B7C7ED7AF}" type="datetimeFigureOut">
              <a:rPr lang="fr-FR" smtClean="0"/>
              <a:pPr/>
              <a:t>10/02/2026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A5D64-D321-4DF9-9E5B-E5FAC692C70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0AE3-AC67-4323-A744-FD1E8D8795C8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E3E0-7D01-4287-9E44-23127C7DEA8A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C453-DF64-4E52-B703-F8B93FCDEA46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6E87-F494-415A-BAA1-C05A00161E97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EB51-1685-41E1-93F7-1A8CD82B41C1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1BDA-CA99-4CDB-BA24-2DA705AF4DC9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61C-051F-4243-BF35-D8F2880FE41E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33C8-C6F6-45C8-A637-B458F2817957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EEEA-D90B-4A78-9E78-EA881AE28887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9BB3-F034-4467-85E5-02D970D634BE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764B0-8BA7-486F-A8BC-99CD92740DEB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03-10-2025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F270B66-5C60-4AE0-937B-C6DB5683CB4D}" type="datetime1">
              <a:rPr lang="fr-FR" smtClean="0"/>
              <a:pPr/>
              <a:t>10/02/2026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fr-FR"/>
              <a:t>03-10-2025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BBED36D-6018-41DB-B6B7-2D2A48EEB233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Etude de cas </a:t>
            </a:r>
            <a:r>
              <a:rPr lang="fr-FR" dirty="0" err="1"/>
              <a:t>supply_chain_realistic_large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Tableau desktop</a:t>
            </a:r>
          </a:p>
          <a:p>
            <a:pPr algn="l"/>
            <a:r>
              <a:rPr lang="fr-FR" sz="3200" dirty="0" err="1"/>
              <a:t>Thekra</a:t>
            </a:r>
            <a:r>
              <a:rPr lang="fr-FR" sz="3200" dirty="0"/>
              <a:t> Ben Ammar            </a:t>
            </a:r>
          </a:p>
          <a:p>
            <a:r>
              <a:rPr lang="fr-FR" sz="3200" dirty="0"/>
              <a:t>                                                       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5143504" y="6286520"/>
            <a:ext cx="3352800" cy="365125"/>
          </a:xfrm>
        </p:spPr>
        <p:txBody>
          <a:bodyPr/>
          <a:lstStyle/>
          <a:p>
            <a:pPr algn="r"/>
            <a:r>
              <a:rPr lang="fr-FR" sz="1800" b="1" dirty="0">
                <a:latin typeface="Arial Black" pitchFamily="34" charset="0"/>
              </a:rPr>
              <a:t>03-10-2025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Business </a:t>
            </a:r>
            <a:r>
              <a:rPr lang="fr-FR" dirty="0" err="1"/>
              <a:t>Understanding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100" dirty="0"/>
              <a:t>Cette étude de cas concerne une chaîne logistique  internationale opérant dans les secteurs :</a:t>
            </a:r>
            <a:r>
              <a:rPr lang="fr-FR" sz="2100" dirty="0" err="1"/>
              <a:t>Toys</a:t>
            </a:r>
            <a:r>
              <a:rPr lang="fr-FR" sz="2100" dirty="0"/>
              <a:t>, Electronique, Cosmétique, Food, Pharmaceutique, </a:t>
            </a:r>
            <a:r>
              <a:rPr lang="fr-FR" sz="2100" dirty="0" err="1"/>
              <a:t>Clothing</a:t>
            </a:r>
            <a:r>
              <a:rPr lang="fr-FR" sz="2100" dirty="0"/>
              <a:t>, </a:t>
            </a:r>
            <a:r>
              <a:rPr lang="fr-FR" sz="2100" dirty="0" err="1"/>
              <a:t>Forniture</a:t>
            </a:r>
            <a:r>
              <a:rPr lang="fr-FR" sz="2100" dirty="0"/>
              <a:t>.</a:t>
            </a:r>
          </a:p>
          <a:p>
            <a:pPr>
              <a:buNone/>
            </a:pPr>
            <a:r>
              <a:rPr lang="fr-FR" sz="2100" dirty="0"/>
              <a:t>Elle est présente dans plusieurs régions : Afrique, Asie, MENA, Amérique du Sud et Europe.</a:t>
            </a:r>
          </a:p>
          <a:p>
            <a:pPr>
              <a:buNone/>
            </a:pPr>
            <a:r>
              <a:rPr lang="fr-FR" sz="2100" dirty="0"/>
              <a:t>La période étudiée couvre les années 2023–2024, avec un focus sur les enjeux liés à la gestion d’une </a:t>
            </a:r>
            <a:r>
              <a:rPr lang="fr-FR" sz="2100" dirty="0" err="1"/>
              <a:t>supply</a:t>
            </a:r>
            <a:r>
              <a:rPr lang="fr-FR" sz="2100" dirty="0"/>
              <a:t> </a:t>
            </a:r>
            <a:r>
              <a:rPr lang="fr-FR" sz="2100" dirty="0" err="1"/>
              <a:t>chain</a:t>
            </a:r>
            <a:r>
              <a:rPr lang="fr-FR" sz="2100" dirty="0"/>
              <a:t> étendue et </a:t>
            </a:r>
            <a:r>
              <a:rPr lang="fr-FR" sz="2100" dirty="0" err="1"/>
              <a:t>multi-régionale</a:t>
            </a:r>
            <a:r>
              <a:rPr lang="fr-FR" sz="2100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Data </a:t>
            </a:r>
            <a:r>
              <a:rPr lang="fr-FR" dirty="0" err="1"/>
              <a:t>Understanding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OrderID</a:t>
            </a:r>
            <a:r>
              <a:rPr lang="fr-FR" dirty="0"/>
              <a:t> : </a:t>
            </a:r>
            <a:r>
              <a:rPr lang="fr-FR" sz="2300" dirty="0"/>
              <a:t>Identifiant unique de chaque commande.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OrderDate : </a:t>
            </a:r>
            <a:r>
              <a:rPr lang="fr-FR" sz="2300" dirty="0"/>
              <a:t>Date à laquelle la commande a été passée.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ProductCategory :</a:t>
            </a:r>
            <a:r>
              <a:rPr lang="fr-FR" sz="2300" dirty="0"/>
              <a:t>Catégorie du produit commandé (</a:t>
            </a:r>
            <a:r>
              <a:rPr lang="fr-FR" sz="2300" b="1" dirty="0" err="1"/>
              <a:t>Toys</a:t>
            </a:r>
            <a:r>
              <a:rPr lang="fr-FR" sz="2300" b="1" dirty="0"/>
              <a:t>, Electronique, Cosmétique, Food, Pharmaceutique, </a:t>
            </a:r>
            <a:r>
              <a:rPr lang="fr-FR" sz="2300" b="1" dirty="0" err="1"/>
              <a:t>Clothing,Forniture</a:t>
            </a:r>
            <a:r>
              <a:rPr lang="fr-FR" sz="2300" b="1" dirty="0"/>
              <a:t>)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Supplier : </a:t>
            </a:r>
            <a:r>
              <a:rPr lang="fr-FR" sz="2300" dirty="0"/>
              <a:t>Identifiant du fournisseur.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Warehouse : </a:t>
            </a:r>
            <a:r>
              <a:rPr lang="fr-FR" sz="2300" dirty="0"/>
              <a:t>Entrepôt d’expédition ou de stockage.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Region : </a:t>
            </a:r>
            <a:r>
              <a:rPr lang="fr-FR" sz="2300" dirty="0"/>
              <a:t>Zone géographique de destination (</a:t>
            </a:r>
            <a:r>
              <a:rPr lang="fr-FR" sz="2300" b="1" dirty="0"/>
              <a:t>Afrique, Asie, South </a:t>
            </a:r>
            <a:r>
              <a:rPr lang="fr-FR" sz="2300" b="1" dirty="0" err="1"/>
              <a:t>America</a:t>
            </a:r>
            <a:r>
              <a:rPr lang="fr-FR" sz="2300" b="1" dirty="0"/>
              <a:t>, MENA.)</a:t>
            </a:r>
            <a:r>
              <a:rPr lang="fr-FR" sz="2300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</a:t>
            </a:r>
            <a:r>
              <a:rPr lang="fr-FR" dirty="0" err="1"/>
              <a:t>Understanding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Quantity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fr-FR" sz="2400" dirty="0"/>
              <a:t>Quantité commandée pour chaque produit.</a:t>
            </a:r>
          </a:p>
          <a:p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UnitPrice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400" dirty="0"/>
              <a:t>: Prix unitaire du produit commandé.</a:t>
            </a:r>
          </a:p>
          <a:p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TransportCost</a:t>
            </a:r>
            <a:r>
              <a:rPr lang="fr-FR" sz="2400" dirty="0"/>
              <a:t>: Coût du transport associé à la commande.</a:t>
            </a:r>
            <a:endParaRPr lang="fr-FR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LeadTimeDays</a:t>
            </a:r>
            <a:r>
              <a:rPr lang="fr-FR" dirty="0"/>
              <a:t> : </a:t>
            </a:r>
            <a:r>
              <a:rPr lang="fr-FR" sz="2100" dirty="0"/>
              <a:t>Délai de livraison en jours entre commande et réception</a:t>
            </a:r>
            <a:r>
              <a:rPr lang="fr-FR" dirty="0"/>
              <a:t>.</a:t>
            </a:r>
          </a:p>
          <a:p>
            <a:r>
              <a:rPr lang="fr-FR" sz="2400" dirty="0" err="1">
                <a:solidFill>
                  <a:schemeClr val="accent1">
                    <a:lumMod val="75000"/>
                  </a:schemeClr>
                </a:solidFill>
              </a:rPr>
              <a:t>Status</a:t>
            </a:r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dirty="0"/>
              <a:t> : </a:t>
            </a:r>
            <a:r>
              <a:rPr lang="fr-FR" sz="2100" dirty="0"/>
              <a:t>État actuel de la commande (Annulée, livrée, Retard).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KPIs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300" dirty="0">
                <a:solidFill>
                  <a:srgbClr val="FF6600"/>
                </a:solidFill>
              </a:rPr>
              <a:t>Performance Commerciale (CA, Vente)</a:t>
            </a:r>
            <a:endParaRPr lang="fr-FR" sz="33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tx2"/>
                </a:solidFill>
              </a:rPr>
              <a:t>Objectif : mesurer les résultats financiers et la contribution des produits ou régions</a:t>
            </a:r>
            <a:endParaRPr lang="fr-FR" sz="2000" dirty="0">
              <a:solidFill>
                <a:schemeClr val="tx2"/>
              </a:solidFill>
            </a:endParaRPr>
          </a:p>
          <a:p>
            <a:r>
              <a:rPr lang="fr-FR" sz="2100" dirty="0"/>
              <a:t>Chiffre d’affaires brut par Région (hors transport): (</a:t>
            </a:r>
            <a:r>
              <a:rPr lang="fr-FR" sz="2100" dirty="0" err="1"/>
              <a:t>Quantity</a:t>
            </a:r>
            <a:r>
              <a:rPr lang="fr-FR" sz="2100" dirty="0"/>
              <a:t> * </a:t>
            </a:r>
            <a:r>
              <a:rPr lang="fr-FR" sz="2100" dirty="0" err="1"/>
              <a:t>UnitPrice</a:t>
            </a:r>
            <a:r>
              <a:rPr lang="fr-FR" sz="2100" dirty="0"/>
              <a:t>) </a:t>
            </a:r>
          </a:p>
          <a:p>
            <a:r>
              <a:rPr lang="fr-FR" sz="2100" dirty="0"/>
              <a:t>Produits les plus générateurs de CA</a:t>
            </a:r>
          </a:p>
          <a:p>
            <a:r>
              <a:rPr lang="fr-FR" sz="2100" dirty="0"/>
              <a:t>Chiffre d’affaire par fournisseur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KPIs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800" dirty="0">
                <a:solidFill>
                  <a:srgbClr val="FF6600"/>
                </a:solidFill>
              </a:rPr>
              <a:t>Performance Opérationnelle</a:t>
            </a:r>
          </a:p>
          <a:p>
            <a:pPr>
              <a:buNone/>
            </a:pPr>
            <a:r>
              <a:rPr lang="fr-FR" dirty="0">
                <a:solidFill>
                  <a:schemeClr val="tx2"/>
                </a:solidFill>
              </a:rPr>
              <a:t>Objectif: suivre les volumes et l’efficacité du processus de commande /livraison </a:t>
            </a:r>
          </a:p>
          <a:p>
            <a:r>
              <a:rPr lang="fr-FR" sz="2400" dirty="0"/>
              <a:t>Nombre total de commandes </a:t>
            </a:r>
          </a:p>
          <a:p>
            <a:r>
              <a:rPr lang="fr-FR" sz="2400" dirty="0"/>
              <a:t>Nombre de commande par fournisseur</a:t>
            </a:r>
          </a:p>
          <a:p>
            <a:pPr>
              <a:buNone/>
            </a:pPr>
            <a:r>
              <a:rPr lang="fr-FR" sz="3200" dirty="0">
                <a:solidFill>
                  <a:srgbClr val="FF6600"/>
                </a:solidFill>
              </a:rPr>
              <a:t> Qualité / Fiabilité</a:t>
            </a:r>
          </a:p>
          <a:p>
            <a:pPr>
              <a:buNone/>
            </a:pPr>
            <a:r>
              <a:rPr lang="fr-FR" sz="2800" dirty="0">
                <a:solidFill>
                  <a:schemeClr val="tx2"/>
                </a:solidFill>
              </a:rPr>
              <a:t>Objectif : mesurer la fiabilité des processus, identifier les points de blocage</a:t>
            </a:r>
          </a:p>
          <a:p>
            <a:pPr>
              <a:lnSpc>
                <a:spcPct val="80000"/>
              </a:lnSpc>
            </a:pPr>
            <a:r>
              <a:rPr lang="fr-FR" sz="2400" dirty="0"/>
              <a:t>Taux d’annulation par rapport au statut de commandes</a:t>
            </a:r>
          </a:p>
          <a:p>
            <a:pPr>
              <a:lnSpc>
                <a:spcPct val="80000"/>
              </a:lnSpc>
            </a:pPr>
            <a:r>
              <a:rPr lang="fr-FR" sz="2400" dirty="0"/>
              <a:t>Pourcentage de commande par son  Statu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500" dirty="0"/>
              <a:t>Les KPIS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dirty="0">
                <a:solidFill>
                  <a:srgbClr val="FF6600"/>
                </a:solidFill>
              </a:rPr>
              <a:t>logistiques</a:t>
            </a:r>
          </a:p>
          <a:p>
            <a:pPr>
              <a:buNone/>
            </a:pPr>
            <a:r>
              <a:rPr lang="fr-FR" sz="2400" dirty="0">
                <a:solidFill>
                  <a:schemeClr val="tx2"/>
                </a:solidFill>
              </a:rPr>
              <a:t>Objectif : évaluer les coûts, délais, et efficacité de la logistique</a:t>
            </a:r>
            <a:endParaRPr lang="fr-FR" dirty="0">
              <a:solidFill>
                <a:schemeClr val="tx2"/>
              </a:solidFill>
            </a:endParaRPr>
          </a:p>
          <a:p>
            <a:pPr>
              <a:lnSpc>
                <a:spcPct val="80000"/>
              </a:lnSpc>
            </a:pPr>
            <a:r>
              <a:rPr lang="fr-FR" sz="2300" dirty="0"/>
              <a:t>Coût total de transport par fournisseur : Somme (</a:t>
            </a:r>
            <a:r>
              <a:rPr lang="fr-FR" sz="2300" dirty="0" err="1"/>
              <a:t>TransportCost</a:t>
            </a:r>
            <a:r>
              <a:rPr lang="fr-FR" sz="2300" dirty="0"/>
              <a:t>)</a:t>
            </a:r>
          </a:p>
          <a:p>
            <a:pPr>
              <a:lnSpc>
                <a:spcPct val="80000"/>
              </a:lnSpc>
            </a:pPr>
            <a:r>
              <a:rPr lang="fr-FR" sz="2300" dirty="0"/>
              <a:t>Coût moyen de transport par commande : AVG (</a:t>
            </a:r>
            <a:r>
              <a:rPr lang="fr-FR" sz="2300" dirty="0" err="1"/>
              <a:t>TransportCost</a:t>
            </a:r>
            <a:r>
              <a:rPr lang="fr-FR" sz="2300" dirty="0"/>
              <a:t>)</a:t>
            </a:r>
          </a:p>
          <a:p>
            <a:pPr>
              <a:lnSpc>
                <a:spcPct val="80000"/>
              </a:lnSpc>
            </a:pPr>
            <a:r>
              <a:rPr lang="fr-FR" sz="2300" dirty="0" err="1"/>
              <a:t>Lead</a:t>
            </a:r>
            <a:r>
              <a:rPr lang="fr-FR" sz="2300" dirty="0"/>
              <a:t> Time moyen par fournisseur :[AVG (</a:t>
            </a:r>
            <a:r>
              <a:rPr lang="fr-FR" sz="2300" dirty="0" err="1"/>
              <a:t>LederTimeDays</a:t>
            </a:r>
            <a:r>
              <a:rPr lang="fr-FR" sz="2300" dirty="0"/>
              <a:t>)] par fournisseur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Rapport de performance </a:t>
            </a:r>
            <a:r>
              <a:rPr lang="fr-FR" b="1" dirty="0" err="1"/>
              <a:t>Supply</a:t>
            </a:r>
            <a:r>
              <a:rPr lang="fr-FR" b="1" dirty="0"/>
              <a:t> Chain internationale (2023–2024)</a:t>
            </a:r>
            <a:endParaRPr lang="fr-FR" dirty="0"/>
          </a:p>
        </p:txBody>
      </p:sp>
      <p:pic>
        <p:nvPicPr>
          <p:cNvPr id="10" name="Espace réservé du contenu 9" descr="Capture d'écran 2025-10-06 21475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96" y="2214554"/>
            <a:ext cx="3038899" cy="134321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11" name="Image 10" descr="Capture d'écran 2025-10-06 2149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64" y="2214554"/>
            <a:ext cx="2143140" cy="1357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12" name="Image 11" descr="Capture d'écran 2025-10-06 215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06" y="2214554"/>
            <a:ext cx="2838846" cy="1357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3" name="ZoneTexte 12"/>
          <p:cNvSpPr txBox="1"/>
          <p:nvPr/>
        </p:nvSpPr>
        <p:spPr>
          <a:xfrm>
            <a:off x="357158" y="3643314"/>
            <a:ext cx="84296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fr-FR" dirty="0"/>
              <a:t>Ce rapport présente l’analyse des performances commerciales et logistiques de la société sur la période </a:t>
            </a:r>
            <a:r>
              <a:rPr lang="fr-FR" b="1" dirty="0"/>
              <a:t>2023–2024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Les indicateurs clés incluent le </a:t>
            </a:r>
            <a:r>
              <a:rPr lang="fr-FR" b="1" dirty="0"/>
              <a:t>chiffre d’affaires</a:t>
            </a:r>
            <a:r>
              <a:rPr lang="fr-FR" dirty="0"/>
              <a:t>, le </a:t>
            </a:r>
            <a:r>
              <a:rPr lang="fr-FR" b="1" dirty="0"/>
              <a:t>volume de commandes, </a:t>
            </a:r>
            <a:r>
              <a:rPr lang="fr-FR" dirty="0"/>
              <a:t>les </a:t>
            </a:r>
            <a:r>
              <a:rPr lang="fr-FR" b="1" dirty="0"/>
              <a:t>produits les plus rentables</a:t>
            </a:r>
            <a:r>
              <a:rPr lang="fr-FR" dirty="0"/>
              <a:t>, ainsi que la </a:t>
            </a:r>
            <a:r>
              <a:rPr lang="fr-FR" b="1" dirty="0"/>
              <a:t>performance logistique .</a:t>
            </a:r>
          </a:p>
          <a:p>
            <a:endParaRPr lang="fr-FR" b="1" dirty="0"/>
          </a:p>
          <a:p>
            <a:r>
              <a:rPr lang="fr-FR" dirty="0"/>
              <a:t>Globalement, les résultats indiquent une </a:t>
            </a:r>
            <a:r>
              <a:rPr lang="fr-FR" b="1" dirty="0"/>
              <a:t>évolution stable et positive</a:t>
            </a:r>
            <a:r>
              <a:rPr lang="fr-FR" dirty="0"/>
              <a:t>, avec une légère croissance du chiffre d’affaires (+0,008337 %) et une </a:t>
            </a:r>
            <a:r>
              <a:rPr lang="fr-FR" b="1" dirty="0"/>
              <a:t>bonne maîtrise des délais de livraison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Capture d'écran 2025-10-06 21411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58" y="785794"/>
            <a:ext cx="3043230" cy="2371289"/>
          </a:xfrm>
          <a:ln>
            <a:solidFill>
              <a:schemeClr val="bg1"/>
            </a:solidFill>
          </a:ln>
        </p:spPr>
      </p:pic>
      <p:pic>
        <p:nvPicPr>
          <p:cNvPr id="8" name="Image 7" descr="Capture d'écran 2025-10-07 1842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68" y="714356"/>
            <a:ext cx="5286380" cy="250033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</p:pic>
      <p:graphicFrame>
        <p:nvGraphicFramePr>
          <p:cNvPr id="10" name="Diagramme 9"/>
          <p:cNvGraphicFramePr/>
          <p:nvPr/>
        </p:nvGraphicFramePr>
        <p:xfrm>
          <a:off x="285720" y="3286124"/>
          <a:ext cx="8643998" cy="2000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ZoneTexte 11"/>
          <p:cNvSpPr txBox="1"/>
          <p:nvPr/>
        </p:nvSpPr>
        <p:spPr>
          <a:xfrm>
            <a:off x="285720" y="5357826"/>
            <a:ext cx="8501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accent1"/>
              </a:buClr>
              <a:buFont typeface="Wingdings" pitchFamily="2" charset="2"/>
              <a:buChar char="Ø"/>
            </a:pPr>
            <a:r>
              <a:rPr lang="fr-FR" dirty="0"/>
              <a:t>Cette évolution reflète une </a:t>
            </a:r>
            <a:r>
              <a:rPr lang="fr-FR" b="1" dirty="0"/>
              <a:t>stabilité des ventes</a:t>
            </a:r>
            <a:r>
              <a:rPr lang="fr-FR" dirty="0"/>
              <a:t> avec une capacité de </a:t>
            </a:r>
            <a:r>
              <a:rPr lang="fr-FR" b="1" dirty="0"/>
              <a:t>récupération rapide</a:t>
            </a:r>
            <a:r>
              <a:rPr lang="fr-FR" dirty="0"/>
              <a:t> face aux fluctuations saisonnières. Le pic de mai 2024 suggère une période commerciale forte (promotions ou lancement de produits 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me 8"/>
          <p:cNvGraphicFramePr/>
          <p:nvPr/>
        </p:nvGraphicFramePr>
        <p:xfrm>
          <a:off x="214282" y="3143248"/>
          <a:ext cx="8715436" cy="192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Espace réservé du contenu 4" descr="Capture d'écran 2025-10-06 215839.png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14282" y="714356"/>
            <a:ext cx="4286280" cy="2286016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1001">
            <a:schemeClr val="lt1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6" name="Image 5" descr="Capture d'écran 2025-10-07 1906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714356"/>
            <a:ext cx="4357718" cy="2286016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1001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357158" y="4714884"/>
            <a:ext cx="8072494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</a:pP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Ces trois régions concentrent la majorité du volume de commandes et du chiffre d’affaires.</a:t>
            </a:r>
            <a:endParaRPr kumimoji="0" 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Ø"/>
              <a:tabLst/>
            </a:pP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Ces catégories génèrent les </a:t>
            </a:r>
            <a:r>
              <a:rPr kumimoji="0" 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plus forts chiffres d’affaires</a:t>
            </a: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, indiquant une forte demande sur ces segments.</a:t>
            </a:r>
            <a:endParaRPr kumimoji="0" 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57158" y="2468563"/>
          <a:ext cx="8229600" cy="2746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 6" descr="Capture d'écran 2025-10-08 1752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44" y="357166"/>
            <a:ext cx="4429156" cy="2063723"/>
          </a:xfrm>
          <a:prstGeom prst="rect">
            <a:avLst/>
          </a:prstGeom>
        </p:spPr>
      </p:pic>
      <p:pic>
        <p:nvPicPr>
          <p:cNvPr id="9" name="Image 8" descr="Capture d'écran 2025-10-08 1752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596" y="357166"/>
            <a:ext cx="4143404" cy="2000264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428596" y="5143512"/>
            <a:ext cx="8215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dirty="0"/>
              <a:t>Cette régularité montre une </a:t>
            </a:r>
            <a:r>
              <a:rPr lang="fr-FR" b="1" dirty="0"/>
              <a:t>bonne maîtrise de la chaîne logistique internationale</a:t>
            </a:r>
            <a:r>
              <a:rPr lang="fr-FR" dirty="0"/>
              <a:t> et une </a:t>
            </a:r>
            <a:r>
              <a:rPr lang="fr-FR" b="1" dirty="0"/>
              <a:t>coordination efficace avec les fournisseurs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Le faible écart entre les délais moyens confirme une </a:t>
            </a:r>
            <a:r>
              <a:rPr lang="fr-FR" b="1" dirty="0"/>
              <a:t>performance homogène</a:t>
            </a:r>
            <a:r>
              <a:rPr lang="fr-FR" dirty="0"/>
              <a:t>, sans rupture significative de la chaîne d’approvisionnement.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Capture d'écran 2025-10-09 13291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714356"/>
            <a:ext cx="8229600" cy="2428891"/>
          </a:xfrm>
        </p:spPr>
      </p:pic>
      <p:graphicFrame>
        <p:nvGraphicFramePr>
          <p:cNvPr id="8" name="Espace réservé du contenu 4"/>
          <p:cNvGraphicFramePr>
            <a:graphicFrameLocks/>
          </p:cNvGraphicFramePr>
          <p:nvPr/>
        </p:nvGraphicFramePr>
        <p:xfrm>
          <a:off x="571472" y="3214686"/>
          <a:ext cx="8429684" cy="1714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14282" y="4786322"/>
            <a:ext cx="85725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sz="1400" dirty="0"/>
              <a:t>Après une </a:t>
            </a:r>
            <a:r>
              <a:rPr lang="fr-FR" sz="1400" b="1" dirty="0"/>
              <a:t>amélioration notable en T1 2024</a:t>
            </a:r>
            <a:r>
              <a:rPr lang="fr-FR" sz="1400" dirty="0"/>
              <a:t> (baisse à 6,31 %), le </a:t>
            </a:r>
            <a:r>
              <a:rPr lang="fr-FR" sz="1400" b="1" dirty="0"/>
              <a:t>taux d’annulation remonte en T3 2024 à 7,48 %</a:t>
            </a:r>
            <a:r>
              <a:rPr lang="fr-FR" sz="1400" dirty="0"/>
              <a:t>, avant de se </a:t>
            </a:r>
            <a:r>
              <a:rPr lang="fr-FR" sz="1400" b="1" dirty="0"/>
              <a:t>stabiliser en T4</a:t>
            </a:r>
            <a:r>
              <a:rPr lang="fr-FR" sz="1400" dirty="0"/>
              <a:t>.</a:t>
            </a:r>
            <a:br>
              <a:rPr lang="fr-FR" sz="1400" dirty="0"/>
            </a:br>
            <a:r>
              <a:rPr lang="fr-FR" sz="1400" dirty="0"/>
              <a:t>Cette évolution indique une </a:t>
            </a:r>
            <a:r>
              <a:rPr lang="fr-FR" sz="1400" b="1" dirty="0"/>
              <a:t>phase d’efficacité accrue en début d’année</a:t>
            </a:r>
            <a:r>
              <a:rPr lang="fr-FR" sz="1400" dirty="0"/>
              <a:t>, probablement liée à une meilleure coordination logistique ou à des campagnes de fidélisation.</a:t>
            </a:r>
            <a:br>
              <a:rPr lang="fr-FR" sz="1400" dirty="0"/>
            </a:br>
            <a:r>
              <a:rPr lang="fr-FR" sz="1400" dirty="0"/>
              <a:t>Cependant, la </a:t>
            </a:r>
            <a:r>
              <a:rPr lang="fr-FR" sz="1400" b="1" dirty="0"/>
              <a:t>hausse du T3</a:t>
            </a:r>
            <a:r>
              <a:rPr lang="fr-FR" sz="1400" dirty="0"/>
              <a:t> peut traduire des </a:t>
            </a:r>
            <a:r>
              <a:rPr lang="fr-FR" sz="1400" b="1" dirty="0"/>
              <a:t>contraintes saisonnières, des retards d’approvisionnement</a:t>
            </a:r>
            <a:r>
              <a:rPr lang="fr-FR" sz="1400" dirty="0"/>
              <a:t> ou une </a:t>
            </a:r>
            <a:r>
              <a:rPr lang="fr-FR" sz="1400" b="1" dirty="0"/>
              <a:t>hausse de la demande difficile à absorber</a:t>
            </a:r>
            <a:r>
              <a:rPr lang="fr-FR" sz="1400" dirty="0"/>
              <a:t>.</a:t>
            </a:r>
            <a:br>
              <a:rPr lang="fr-FR" sz="1400" dirty="0"/>
            </a:br>
            <a:r>
              <a:rPr lang="fr-FR" sz="1400" dirty="0"/>
              <a:t>La stabilisation en fin d’année montre que les </a:t>
            </a:r>
            <a:r>
              <a:rPr lang="fr-FR" sz="1400" b="1" dirty="0"/>
              <a:t>mesures correctives ont été efficaces</a:t>
            </a:r>
            <a:r>
              <a:rPr lang="fr-FR" sz="1400" dirty="0"/>
              <a:t> pour rétablir le contrôle opérationnel</a:t>
            </a:r>
            <a:r>
              <a:rPr lang="fr-FR" sz="12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010400"/>
          </a:xfrm>
          <a:prstGeom prst="roundRect">
            <a:avLst/>
          </a:prstGeo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tint val="70000"/>
                  <a:satMod val="130000"/>
                </a:schemeClr>
              </a:gs>
              <a:gs pos="43000">
                <a:schemeClr val="accent1">
                  <a:hueOff val="0"/>
                  <a:satOff val="0"/>
                  <a:lumOff val="0"/>
                  <a:alphaOff val="0"/>
                  <a:tint val="44000"/>
                  <a:satMod val="165000"/>
                </a:schemeClr>
              </a:gs>
              <a:gs pos="93000">
                <a:schemeClr val="accent1">
                  <a:hueOff val="0"/>
                  <a:satOff val="0"/>
                  <a:lumOff val="0"/>
                  <a:alphaOff val="0"/>
                  <a:tint val="15000"/>
                  <a:satMod val="165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5000"/>
                  <a:satMod val="2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/>
            <a:lightRig rig="threePt" dir="t"/>
          </a:scene3d>
          <a:sp3d>
            <a:bevelT w="889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</a:rPr>
              <a:t>Conclusion et Recommandation</a:t>
            </a:r>
          </a:p>
        </p:txBody>
      </p:sp>
      <p:pic>
        <p:nvPicPr>
          <p:cNvPr id="5" name="Espace réservé du contenu 8" descr="Capture d'écran 2025-10-09 15010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744" y="1785926"/>
            <a:ext cx="4972056" cy="2198105"/>
          </a:xfrm>
        </p:spPr>
      </p:pic>
      <p:sp>
        <p:nvSpPr>
          <p:cNvPr id="7" name="ZoneTexte 6"/>
          <p:cNvSpPr txBox="1"/>
          <p:nvPr/>
        </p:nvSpPr>
        <p:spPr>
          <a:xfrm>
            <a:off x="357158" y="1857364"/>
            <a:ext cx="321471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Force s:</a:t>
            </a:r>
          </a:p>
          <a:p>
            <a:endParaRPr lang="fr-FR" sz="1400" b="1" dirty="0"/>
          </a:p>
          <a:p>
            <a:pPr lvl="0"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dirty="0"/>
              <a:t>Légère croissance du chiffre d’affaires.</a:t>
            </a:r>
          </a:p>
          <a:p>
            <a:pPr lvl="0"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dirty="0"/>
              <a:t>Bonne cohérence entre délai et coût logistique.</a:t>
            </a:r>
          </a:p>
          <a:p>
            <a:pPr lvl="0"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dirty="0"/>
              <a:t>Stabilité des délais de livraison entre fournisseurs.</a:t>
            </a:r>
          </a:p>
          <a:p>
            <a:pPr lvl="0">
              <a:buClr>
                <a:schemeClr val="accent2"/>
              </a:buClr>
              <a:buFont typeface="Wingdings" pitchFamily="2" charset="2"/>
              <a:buChar char="Ø"/>
            </a:pPr>
            <a:r>
              <a:rPr lang="fr-FR" dirty="0"/>
              <a:t>Taux d’annulation globalement stable avec une bonne capacité de récupération après variation trimestrielle</a:t>
            </a:r>
            <a:r>
              <a:rPr lang="fr-FR" b="1" dirty="0"/>
              <a:t>.</a:t>
            </a:r>
            <a:endParaRPr lang="fr-FR" dirty="0"/>
          </a:p>
          <a:p>
            <a:pPr lvl="0">
              <a:buClr>
                <a:schemeClr val="accent2"/>
              </a:buClr>
            </a:pPr>
            <a:endParaRPr lang="fr-FR" dirty="0"/>
          </a:p>
          <a:p>
            <a:pPr>
              <a:buClr>
                <a:schemeClr val="accent2"/>
              </a:buClr>
            </a:pPr>
            <a:endParaRPr lang="fr-FR" dirty="0"/>
          </a:p>
        </p:txBody>
      </p:sp>
      <p:pic>
        <p:nvPicPr>
          <p:cNvPr id="8" name="Image 7" descr="Capture d'écran 2025-10-09 150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68" y="4214818"/>
            <a:ext cx="5143536" cy="24288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sz="1800" b="1" dirty="0"/>
          </a:p>
          <a:p>
            <a:pPr>
              <a:buNone/>
            </a:pPr>
            <a:r>
              <a:rPr lang="fr-FR" b="1" dirty="0"/>
              <a:t>Axes d’amélioration :</a:t>
            </a:r>
          </a:p>
          <a:p>
            <a:pPr>
              <a:buNone/>
            </a:pPr>
            <a:endParaRPr lang="fr-FR" sz="1800" dirty="0"/>
          </a:p>
          <a:p>
            <a:pPr lvl="0"/>
            <a:r>
              <a:rPr lang="fr-FR" sz="2000" dirty="0"/>
              <a:t>Analyser les </a:t>
            </a:r>
            <a:r>
              <a:rPr lang="fr-FR" sz="2000" b="1" dirty="0"/>
              <a:t>causes de la baisse de novembre 2023</a:t>
            </a:r>
            <a:r>
              <a:rPr lang="fr-FR" sz="2000" dirty="0"/>
              <a:t> (problèmes d’approvisionnement, marketing ou saisonnalité).</a:t>
            </a:r>
          </a:p>
          <a:p>
            <a:pPr lvl="0"/>
            <a:r>
              <a:rPr lang="fr-FR" sz="2000" dirty="0"/>
              <a:t>Identifier des </a:t>
            </a:r>
            <a:r>
              <a:rPr lang="fr-FR" sz="2000" b="1" dirty="0"/>
              <a:t>opportunités de réduction du </a:t>
            </a:r>
            <a:r>
              <a:rPr lang="fr-FR" sz="2000" b="1" dirty="0" err="1"/>
              <a:t>lead</a:t>
            </a:r>
            <a:r>
              <a:rPr lang="fr-FR" sz="2000" b="1" dirty="0"/>
              <a:t> time</a:t>
            </a:r>
            <a:r>
              <a:rPr lang="fr-FR" sz="2000" dirty="0"/>
              <a:t> pour renforcer la compétitivité.</a:t>
            </a:r>
          </a:p>
          <a:p>
            <a:pPr lvl="0"/>
            <a:r>
              <a:rPr lang="fr-FR" sz="2000" dirty="0"/>
              <a:t>Consolider les </a:t>
            </a:r>
            <a:r>
              <a:rPr lang="fr-FR" sz="2000" b="1" dirty="0"/>
              <a:t>relations avec les fournisseurs performants</a:t>
            </a:r>
            <a:r>
              <a:rPr lang="fr-FR" sz="2000" dirty="0"/>
              <a:t> afin de maintenir la régularité des délais.</a:t>
            </a:r>
          </a:p>
          <a:p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  <a:gradFill>
            <a:gsLst>
              <a:gs pos="0">
                <a:schemeClr val="accent1">
                  <a:hueOff val="0"/>
                  <a:satOff val="0"/>
                  <a:lumOff val="0"/>
                  <a:alphaOff val="0"/>
                  <a:tint val="70000"/>
                  <a:satMod val="130000"/>
                </a:schemeClr>
              </a:gs>
              <a:gs pos="43000">
                <a:schemeClr val="accent1">
                  <a:hueOff val="0"/>
                  <a:satOff val="0"/>
                  <a:lumOff val="0"/>
                  <a:alphaOff val="0"/>
                  <a:tint val="44000"/>
                  <a:satMod val="165000"/>
                </a:schemeClr>
              </a:gs>
              <a:gs pos="93000">
                <a:schemeClr val="accent1">
                  <a:hueOff val="0"/>
                  <a:satOff val="0"/>
                  <a:lumOff val="0"/>
                  <a:alphaOff val="0"/>
                  <a:tint val="15000"/>
                  <a:satMod val="165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tint val="5000"/>
                  <a:satMod val="2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/>
            <a:lightRig rig="threePt" dir="t"/>
          </a:scene3d>
          <a:sp3d>
            <a:bevelT w="889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</a:rPr>
              <a:t>Conclusion et Recommandation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4428</TotalTime>
  <Words>909</Words>
  <Application>Microsoft Office PowerPoint</Application>
  <PresentationFormat>Affichage à l'écran (4:3)</PresentationFormat>
  <Paragraphs>86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Constantia</vt:lpstr>
      <vt:lpstr>Wingdings</vt:lpstr>
      <vt:lpstr>Wingdings 2</vt:lpstr>
      <vt:lpstr>Débit</vt:lpstr>
      <vt:lpstr>Etude de cas supply_chain_realistic_large</vt:lpstr>
      <vt:lpstr>Business Understanding</vt:lpstr>
      <vt:lpstr>Data Understanding</vt:lpstr>
      <vt:lpstr>Data Understanding</vt:lpstr>
      <vt:lpstr>Les KPIs</vt:lpstr>
      <vt:lpstr>Les KPIs</vt:lpstr>
      <vt:lpstr>Les KPIS </vt:lpstr>
      <vt:lpstr>Rapport de performance Supply Chain internationale (2023–2024)</vt:lpstr>
      <vt:lpstr>Présentation PowerPoint</vt:lpstr>
      <vt:lpstr>Présentation PowerPoint</vt:lpstr>
      <vt:lpstr>Présentation PowerPoint</vt:lpstr>
      <vt:lpstr>Présentation PowerPoint</vt:lpstr>
      <vt:lpstr>Conclusion et Recommandation</vt:lpstr>
      <vt:lpstr>Conclusion et Recommandation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Etude de cas supply_chain_realistic_large</dc:title>
  <dc:creator>SAT</dc:creator>
  <cp:lastModifiedBy>Dhekra</cp:lastModifiedBy>
  <cp:revision>79</cp:revision>
  <dcterms:created xsi:type="dcterms:W3CDTF">2025-10-02T17:21:49Z</dcterms:created>
  <dcterms:modified xsi:type="dcterms:W3CDTF">2026-02-11T20:45:49Z</dcterms:modified>
</cp:coreProperties>
</file>